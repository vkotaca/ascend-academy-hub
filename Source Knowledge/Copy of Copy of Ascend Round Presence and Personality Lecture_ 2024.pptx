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EB Garamon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46" Type="http://schemas.openxmlformats.org/officeDocument/2006/relationships/font" Target="fonts/EBGaramond-bold.fntdata"/><Relationship Id="rId23" Type="http://schemas.openxmlformats.org/officeDocument/2006/relationships/slide" Target="slides/slide18.xml"/><Relationship Id="rId45" Type="http://schemas.openxmlformats.org/officeDocument/2006/relationships/font" Target="fonts/EB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EBGaramond-boldItalic.fntdata"/><Relationship Id="rId25" Type="http://schemas.openxmlformats.org/officeDocument/2006/relationships/slide" Target="slides/slide20.xml"/><Relationship Id="rId47" Type="http://schemas.openxmlformats.org/officeDocument/2006/relationships/font" Target="fonts/EBGaramond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2e481d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2e481d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6c1cc70f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6c1cc70f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15cd80f5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15cd80f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15cd80f5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15cd80f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6c1cc70f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6c1cc70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6c1cc70f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6c1cc70f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6c1cc70f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6c1cc70f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6c1cc70f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6c1cc70f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6c1cc70f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6c1cc70f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6c1cc70f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6c1cc70f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76c1cc70f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76c1cc70f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6c1cc70f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6c1cc70f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6c1cc70f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76c1cc70f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81dbca00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781dbca00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6c1cc70f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6c1cc70f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76c1cc70f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6c1cc70f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6c1cc70f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6c1cc70f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6c1cc70f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76c1cc70f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6c1cc70f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76c1cc70f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76c1cc70f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76c1cc70f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76c1cc70f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76c1cc70f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76c1cc70f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6c1cc70f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76c1cc70f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76c1cc70f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76c1cc70f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76c1cc70f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76c1cc70f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76c1cc70f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6c1cc70f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6c1cc70f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6c1cc70f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6c1cc70f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6c1cc70f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6c1cc70f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Aura Lecture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013800" y="1458150"/>
            <a:ext cx="6130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here to talk about </a:t>
            </a:r>
            <a:r>
              <a:rPr b="1" lang="en" u="sng"/>
              <a:t>round presence</a:t>
            </a:r>
            <a:endParaRPr b="1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2972850" y="1630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Standing Out: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Every competitors goal is to be noticed or memorable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This gets harder to do the better the competition gets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ctrTitle"/>
          </p:nvPr>
        </p:nvSpPr>
        <p:spPr>
          <a:xfrm>
            <a:off x="3237800" y="1578400"/>
            <a:ext cx="6614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Theme of this Lecture is Confidence and Purpose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ctrTitle"/>
          </p:nvPr>
        </p:nvSpPr>
        <p:spPr>
          <a:xfrm>
            <a:off x="2972850" y="1630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At the tournament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Before the round starts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Walk-Ups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Speeches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CX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ctrTitle"/>
          </p:nvPr>
        </p:nvSpPr>
        <p:spPr>
          <a:xfrm>
            <a:off x="2519575" y="144525"/>
            <a:ext cx="5917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At the Tournament</a:t>
            </a:r>
            <a:endParaRPr b="1"/>
          </a:p>
        </p:txBody>
      </p:sp>
      <p:sp>
        <p:nvSpPr>
          <p:cNvPr id="172" name="Google Shape;172;p19"/>
          <p:cNvSpPr txBox="1"/>
          <p:nvPr/>
        </p:nvSpPr>
        <p:spPr>
          <a:xfrm>
            <a:off x="3191575" y="1147100"/>
            <a:ext cx="5134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Don’t be stupid - when in public don’t cuss, smack talk other competitors, make fun of other competitors or each other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judges are literally EVERYWHERE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are representing your schools and Ascend - your reputation and our reputation is important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ctrTitle"/>
          </p:nvPr>
        </p:nvSpPr>
        <p:spPr>
          <a:xfrm>
            <a:off x="3056125" y="1365625"/>
            <a:ext cx="5917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the Round Starts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2584300" y="52000"/>
            <a:ext cx="6361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Congressional Debater </a:t>
            </a:r>
            <a:r>
              <a:rPr lang="en"/>
              <a:t>Stereotypes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3173050" y="1452400"/>
            <a:ext cx="3774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Docket Demander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171200" y="1911075"/>
            <a:ext cx="3774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Splits Senator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832350" y="2629175"/>
            <a:ext cx="3774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Representative “How Many Bids Do You Have?”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0" y="2795713"/>
            <a:ext cx="3774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“I Finaled At…” Broski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45300" y="3223675"/>
            <a:ext cx="4533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Career PO Begging For Votes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001175" y="2322000"/>
            <a:ext cx="51675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Always Late and Flustered One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0" y="3606125"/>
            <a:ext cx="51675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Always Late but Doesn’t Care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49100" y="3323025"/>
            <a:ext cx="44556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“I have both sides but I’m still going to find a way to ruin the split person”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515650" y="4324025"/>
            <a:ext cx="51675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Sen/Rep “I don’t have prep lol”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ctrTitle"/>
          </p:nvPr>
        </p:nvSpPr>
        <p:spPr>
          <a:xfrm>
            <a:off x="3324400" y="218550"/>
            <a:ext cx="52143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I’m not telling you to not be one of these people</a:t>
            </a:r>
            <a:endParaRPr sz="3400"/>
          </a:p>
        </p:txBody>
      </p:sp>
      <p:sp>
        <p:nvSpPr>
          <p:cNvPr id="197" name="Google Shape;197;p22"/>
          <p:cNvSpPr txBox="1"/>
          <p:nvPr>
            <p:ph type="ctrTitle"/>
          </p:nvPr>
        </p:nvSpPr>
        <p:spPr>
          <a:xfrm>
            <a:off x="3056125" y="2239650"/>
            <a:ext cx="60879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But some of these are DEFINITELY a RED FLAG</a:t>
            </a:r>
            <a:endParaRPr sz="3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ctrTitle"/>
          </p:nvPr>
        </p:nvSpPr>
        <p:spPr>
          <a:xfrm>
            <a:off x="2815600" y="70525"/>
            <a:ext cx="7462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build your presence</a:t>
            </a:r>
            <a:endParaRPr b="1"/>
          </a:p>
        </p:txBody>
      </p:sp>
      <p:sp>
        <p:nvSpPr>
          <p:cNvPr id="203" name="Google Shape;203;p23"/>
          <p:cNvSpPr txBox="1"/>
          <p:nvPr/>
        </p:nvSpPr>
        <p:spPr>
          <a:xfrm>
            <a:off x="3173050" y="1452400"/>
            <a:ext cx="5402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Don’t be passive - if you want to take splits or ask for dockets do it 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decisively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with confidence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Don’t act like you own the round but sound sure of yourself and invested in solving the problem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Nothing goofier than being loud before round then absolutely flopping your speech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ctrTitle"/>
          </p:nvPr>
        </p:nvSpPr>
        <p:spPr>
          <a:xfrm>
            <a:off x="2519525" y="255525"/>
            <a:ext cx="5954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if I want to be </a:t>
            </a:r>
            <a:r>
              <a:rPr lang="en"/>
              <a:t>nonchalant</a:t>
            </a:r>
            <a:endParaRPr/>
          </a:p>
        </p:txBody>
      </p:sp>
      <p:sp>
        <p:nvSpPr>
          <p:cNvPr id="209" name="Google Shape;209;p24"/>
          <p:cNvSpPr txBox="1"/>
          <p:nvPr>
            <p:ph type="ctrTitle"/>
          </p:nvPr>
        </p:nvSpPr>
        <p:spPr>
          <a:xfrm>
            <a:off x="3088250" y="1834425"/>
            <a:ext cx="5954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then you’re going to have to make up for it </a:t>
            </a:r>
            <a:r>
              <a:rPr lang="en"/>
              <a:t>somewhere</a:t>
            </a:r>
            <a:r>
              <a:rPr lang="en"/>
              <a:t> else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ctrTitle"/>
          </p:nvPr>
        </p:nvSpPr>
        <p:spPr>
          <a:xfrm>
            <a:off x="2815600" y="70525"/>
            <a:ext cx="7462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build your presence</a:t>
            </a:r>
            <a:endParaRPr b="1"/>
          </a:p>
        </p:txBody>
      </p:sp>
      <p:sp>
        <p:nvSpPr>
          <p:cNvPr id="215" name="Google Shape;215;p25"/>
          <p:cNvSpPr txBox="1"/>
          <p:nvPr/>
        </p:nvSpPr>
        <p:spPr>
          <a:xfrm>
            <a:off x="3173050" y="1452400"/>
            <a:ext cx="5402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 don’t want to be “that person” setting dockets or commanding a chamber that’s fine, but don’t act 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disinterested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 the round/selection process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Judges hate people who clearly don’t want to be there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Fake it till you make it or find a new extra curricular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Ups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ctrTitle"/>
          </p:nvPr>
        </p:nvSpPr>
        <p:spPr>
          <a:xfrm>
            <a:off x="2029250" y="89000"/>
            <a:ext cx="8100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 Creative! Be Confident!</a:t>
            </a:r>
            <a:endParaRPr b="1"/>
          </a:p>
        </p:txBody>
      </p:sp>
      <p:sp>
        <p:nvSpPr>
          <p:cNvPr id="226" name="Google Shape;226;p27"/>
          <p:cNvSpPr txBox="1"/>
          <p:nvPr/>
        </p:nvSpPr>
        <p:spPr>
          <a:xfrm>
            <a:off x="3117550" y="795575"/>
            <a:ext cx="5402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Walk ups are like a first impression or pick-up line when you’re interested in someone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-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 cheesy/cliche gets an eye-roll and -aura, nothing is just boring and you won’t stand out at all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 do it half heartedly you’ll be met with a 😐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 mess it up you’ll get a 🫤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it’s GREAT you’ll get a 🤭, 🤣, or 😍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ctrTitle"/>
          </p:nvPr>
        </p:nvSpPr>
        <p:spPr>
          <a:xfrm>
            <a:off x="2769325" y="144525"/>
            <a:ext cx="6639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Walks Ups Continued</a:t>
            </a:r>
            <a:endParaRPr b="1"/>
          </a:p>
        </p:txBody>
      </p:sp>
      <p:sp>
        <p:nvSpPr>
          <p:cNvPr id="232" name="Google Shape;232;p28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“Luu, L-U-U 6’2, don’t check me on that” → haha get it because I’m just 6’ and not 6’2. Yes it’s a joke but it’s not self deprecating, it’s a little bit egotistical but the judge can visual get that this is a joke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“Lawal, there’s two L’s but focus on the W” → also very self confident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 can’t think of anything quick and snappy you can always try rhyming it can sometimes work at the very least you’re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putting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 effort. Again if it seems like you are HAVING FUN the judge will like it.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ctrTitle"/>
          </p:nvPr>
        </p:nvSpPr>
        <p:spPr>
          <a:xfrm>
            <a:off x="3518650" y="6163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IF YOU </a:t>
            </a:r>
            <a:r>
              <a:rPr lang="en"/>
              <a:t>ABSOLUTELY</a:t>
            </a:r>
            <a:r>
              <a:rPr lang="en"/>
              <a:t> CANNOT THINK OF A GOOD ONE JUST DON’T DO ONE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ctrTitle"/>
          </p:nvPr>
        </p:nvSpPr>
        <p:spPr>
          <a:xfrm>
            <a:off x="2769325" y="144525"/>
            <a:ext cx="6639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DON’TS of </a:t>
            </a:r>
            <a:r>
              <a:rPr b="1" lang="en"/>
              <a:t>Walks Ups </a:t>
            </a:r>
            <a:endParaRPr b="1"/>
          </a:p>
        </p:txBody>
      </p:sp>
      <p:sp>
        <p:nvSpPr>
          <p:cNvPr id="243" name="Google Shape;243;p30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 not make fun/ complain about each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other's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last names in round even if it is just a joke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 does not matter if you are friends it will come off as rude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 not jokingly flirt with each other in your walks ups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Some judges will not care others will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just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drop you for it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ctrTitle"/>
          </p:nvPr>
        </p:nvSpPr>
        <p:spPr>
          <a:xfrm>
            <a:off x="3009900" y="1300900"/>
            <a:ext cx="61341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Try To Make One Right Now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Don’t Overthink it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Have Fun!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ctrTitle"/>
          </p:nvPr>
        </p:nvSpPr>
        <p:spPr>
          <a:xfrm>
            <a:off x="2510300" y="0"/>
            <a:ext cx="6818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When You are Speaking</a:t>
            </a:r>
            <a:endParaRPr b="1"/>
          </a:p>
        </p:txBody>
      </p:sp>
      <p:sp>
        <p:nvSpPr>
          <p:cNvPr id="254" name="Google Shape;254;p32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BRING SOME ENERGY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does Energy mean?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 could be excitement/happiness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 could be faster talking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More Projection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Whether you’re a happy go lucky person or more of an ice in the veins debater - judges notice when a debater is bringing more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energy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into their speech than the other competitors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ctrTitle"/>
          </p:nvPr>
        </p:nvSpPr>
        <p:spPr>
          <a:xfrm>
            <a:off x="2510300" y="0"/>
            <a:ext cx="6818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Visual Indicators</a:t>
            </a:r>
            <a:endParaRPr b="1"/>
          </a:p>
        </p:txBody>
      </p:sp>
      <p:sp>
        <p:nvSpPr>
          <p:cNvPr id="260" name="Google Shape;260;p33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UR FACE!!!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Facial Expressions are Super Important and Underrated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face should match the words/emotions you are portraying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 not say a joke the same way you would say emotional rhetoric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UR NOT THE FACE!!!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your arms and body to add emphasis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 are vertically challenge - USE A LOT OF BODY LANGUAGE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Throw your arms up, move them around, do motions or movements that other competitors are not doing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ctrTitle"/>
          </p:nvPr>
        </p:nvSpPr>
        <p:spPr>
          <a:xfrm>
            <a:off x="2510300" y="0"/>
            <a:ext cx="6818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Visual Indicators</a:t>
            </a:r>
            <a:endParaRPr b="1"/>
          </a:p>
        </p:txBody>
      </p:sp>
      <p:sp>
        <p:nvSpPr>
          <p:cNvPr id="266" name="Google Shape;266;p34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EYE CONTACT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Make as much eye contact with the judge as possible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Make as much eye contact </a:t>
            </a: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with</a:t>
            </a: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competitors as much as possible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more you can get used to just looking at your judge and talking instead of down at your pad, the more prepared you are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CX try to look at some of your judges, eye contact as often as possible goes a long way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ctrTitle"/>
          </p:nvPr>
        </p:nvSpPr>
        <p:spPr>
          <a:xfrm>
            <a:off x="2510300" y="0"/>
            <a:ext cx="6818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 NOT!</a:t>
            </a:r>
            <a:endParaRPr b="1"/>
          </a:p>
        </p:txBody>
      </p:sp>
      <p:sp>
        <p:nvSpPr>
          <p:cNvPr id="272" name="Google Shape;272;p35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Complain that you are getting a late speech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Things happen, PO didn’t like you, Present was Rough, don’t mop and complain to the room that you didn’t get an early speech, take it like a champ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Complain/milk the fact that you have to switch sides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Most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go “wah wah I had to flip” as a judge I would respect someone that straight up went “Hey everyone I just flipped and I’m so excited to speak”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Confidence = More Aura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ctrTitle"/>
          </p:nvPr>
        </p:nvSpPr>
        <p:spPr>
          <a:xfrm>
            <a:off x="3009900" y="1513675"/>
            <a:ext cx="61341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Personas and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Personalities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ctrTitle"/>
          </p:nvPr>
        </p:nvSpPr>
        <p:spPr>
          <a:xfrm>
            <a:off x="2871100" y="52000"/>
            <a:ext cx="6083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do I develop a personality?</a:t>
            </a:r>
            <a:endParaRPr b="1"/>
          </a:p>
        </p:txBody>
      </p:sp>
      <p:sp>
        <p:nvSpPr>
          <p:cNvPr id="283" name="Google Shape;283;p37"/>
          <p:cNvSpPr txBox="1"/>
          <p:nvPr/>
        </p:nvSpPr>
        <p:spPr>
          <a:xfrm>
            <a:off x="2969550" y="126740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Well you kind of have one already don’t you?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Personality does not mean jokes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“Good Personality” or a “Winning Personality” is simply who you are outside of debate, your values, tendencies, way of explaining, way of expressing yourself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It’s cliche but to stand out and to be different is to embrace yourself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ctrTitle"/>
          </p:nvPr>
        </p:nvSpPr>
        <p:spPr>
          <a:xfrm>
            <a:off x="2445550" y="52000"/>
            <a:ext cx="7194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Personality Continued</a:t>
            </a:r>
            <a:endParaRPr b="1"/>
          </a:p>
        </p:txBody>
      </p:sp>
      <p:sp>
        <p:nvSpPr>
          <p:cNvPr id="289" name="Google Shape;289;p38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Ask your friends or parents to describe you with 5-10 words or name 5-10 of your traits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Take the 16 Personalities Quiz - no joke it helps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Debaters that do the best embrace their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strengths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don’t waste time trying to become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someone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else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There is a difference between inspiration and replication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ctrTitle"/>
          </p:nvPr>
        </p:nvSpPr>
        <p:spPr>
          <a:xfrm>
            <a:off x="2445550" y="52000"/>
            <a:ext cx="7194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Personality Continued</a:t>
            </a:r>
            <a:endParaRPr b="1"/>
          </a:p>
        </p:txBody>
      </p:sp>
      <p:sp>
        <p:nvSpPr>
          <p:cNvPr id="295" name="Google Shape;295;p39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Take Risks but be true to yourself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I’ve always been a goofy person so when I tried jokes for the first time some of them bombed, some were too teen focused, trial error got me to a place where I understood what worked for the judges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Aditya learned how to be very blunt and short with how he responded to people - mad for really funny refutations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ctrTitle"/>
          </p:nvPr>
        </p:nvSpPr>
        <p:spPr>
          <a:xfrm>
            <a:off x="2445550" y="52000"/>
            <a:ext cx="7194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Personality Continued</a:t>
            </a:r>
            <a:endParaRPr b="1"/>
          </a:p>
        </p:txBody>
      </p:sp>
      <p:sp>
        <p:nvSpPr>
          <p:cNvPr id="301" name="Google Shape;301;p40"/>
          <p:cNvSpPr txBox="1"/>
          <p:nvPr/>
        </p:nvSpPr>
        <p:spPr>
          <a:xfrm>
            <a:off x="2969550" y="878850"/>
            <a:ext cx="6050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you’re funny make jokes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you’re emotional use more emotional rhetoric 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you like to be technical and flow, expand your vocabulary and use professional language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Watch 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different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types of public speakers to see how they incorporate personality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Politicians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Comedians, Slam Poets, Singers, all have a very signature sound/performance to them STUDY THEM!!!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>
            <p:ph type="ctrTitle"/>
          </p:nvPr>
        </p:nvSpPr>
        <p:spPr>
          <a:xfrm>
            <a:off x="2445550" y="52000"/>
            <a:ext cx="7194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Generally Good Traits</a:t>
            </a:r>
            <a:endParaRPr b="1"/>
          </a:p>
        </p:txBody>
      </p:sp>
      <p:sp>
        <p:nvSpPr>
          <p:cNvPr id="307" name="Google Shape;307;p41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Do Judges Look For?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●"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Someone that is to the point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●"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Generally likable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●"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Humble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●"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Enthusiastically Educational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●"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Genuinely Driven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ctrTitle"/>
          </p:nvPr>
        </p:nvSpPr>
        <p:spPr>
          <a:xfrm>
            <a:off x="2445550" y="52000"/>
            <a:ext cx="7194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Cross Examination</a:t>
            </a:r>
            <a:endParaRPr b="1"/>
          </a:p>
        </p:txBody>
      </p:sp>
      <p:sp>
        <p:nvSpPr>
          <p:cNvPr id="313" name="Google Shape;313;p42"/>
          <p:cNvSpPr txBox="1"/>
          <p:nvPr/>
        </p:nvSpPr>
        <p:spPr>
          <a:xfrm>
            <a:off x="2969550" y="878850"/>
            <a:ext cx="5013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 an answerer be calm, be enthusiastic to clarify your point and look at the judges while doing it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 a questioner be genuinely confused/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concerned</a:t>
            </a: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when questioning a point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either position you do not want to seem like you are in a rush, or be frustrated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Calm and Ready = +aura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Rushed and Flustered = -aura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ctrTitle"/>
          </p:nvPr>
        </p:nvSpPr>
        <p:spPr>
          <a:xfrm>
            <a:off x="2815600" y="70525"/>
            <a:ext cx="7462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 Recap</a:t>
            </a:r>
            <a:endParaRPr b="1"/>
          </a:p>
        </p:txBody>
      </p:sp>
      <p:sp>
        <p:nvSpPr>
          <p:cNvPr id="319" name="Google Shape;319;p43"/>
          <p:cNvSpPr txBox="1"/>
          <p:nvPr/>
        </p:nvSpPr>
        <p:spPr>
          <a:xfrm>
            <a:off x="3071300" y="610225"/>
            <a:ext cx="26736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+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Aura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Requesting Docket/Splits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Prepared for Both Sides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Bringing Energy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Cool/Catchy Walk Up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CONFIDENCE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CREATIVITY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3"/>
          <p:cNvSpPr txBox="1"/>
          <p:nvPr/>
        </p:nvSpPr>
        <p:spPr>
          <a:xfrm>
            <a:off x="5934200" y="610225"/>
            <a:ext cx="3150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-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Aura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Begging for Dockets and Splits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Whining about not having prep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 nonchalant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Complaining About Speaking Late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●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eye-contact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