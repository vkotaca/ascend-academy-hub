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embeddedFontLst>
    <p:embeddedFont>
      <p:font typeface="Raleway"/>
      <p:regular r:id="rId30"/>
      <p:bold r:id="rId31"/>
      <p:italic r:id="rId32"/>
      <p:boldItalic r:id="rId33"/>
    </p:embeddedFont>
    <p:embeddedFont>
      <p:font typeface="Montserrat"/>
      <p:regular r:id="rId34"/>
      <p:bold r:id="rId35"/>
      <p:italic r:id="rId36"/>
      <p:boldItalic r:id="rId37"/>
    </p:embeddedFont>
    <p:embeddedFont>
      <p:font typeface="Lat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italic.fntdata"/><Relationship Id="rId20" Type="http://schemas.openxmlformats.org/officeDocument/2006/relationships/slide" Target="slides/slide15.xml"/><Relationship Id="rId41" Type="http://schemas.openxmlformats.org/officeDocument/2006/relationships/font" Target="fonts/Lat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fntdata"/><Relationship Id="rId30" Type="http://schemas.openxmlformats.org/officeDocument/2006/relationships/font" Target="fonts/Raleway-regular.fntdata"/><Relationship Id="rId11" Type="http://schemas.openxmlformats.org/officeDocument/2006/relationships/slide" Target="slides/slide6.xml"/><Relationship Id="rId33" Type="http://schemas.openxmlformats.org/officeDocument/2006/relationships/font" Target="fonts/Raleway-boldItalic.fntdata"/><Relationship Id="rId10" Type="http://schemas.openxmlformats.org/officeDocument/2006/relationships/slide" Target="slides/slide5.xml"/><Relationship Id="rId32" Type="http://schemas.openxmlformats.org/officeDocument/2006/relationships/font" Target="fonts/Raleway-italic.fntdata"/><Relationship Id="rId13" Type="http://schemas.openxmlformats.org/officeDocument/2006/relationships/slide" Target="slides/slide8.xml"/><Relationship Id="rId35" Type="http://schemas.openxmlformats.org/officeDocument/2006/relationships/font" Target="fonts/Montserrat-bold.fntdata"/><Relationship Id="rId12" Type="http://schemas.openxmlformats.org/officeDocument/2006/relationships/slide" Target="slides/slide7.xml"/><Relationship Id="rId34" Type="http://schemas.openxmlformats.org/officeDocument/2006/relationships/font" Target="fonts/Montserrat-regular.fntdata"/><Relationship Id="rId15" Type="http://schemas.openxmlformats.org/officeDocument/2006/relationships/slide" Target="slides/slide10.xml"/><Relationship Id="rId37" Type="http://schemas.openxmlformats.org/officeDocument/2006/relationships/font" Target="fonts/Montserrat-boldItalic.fntdata"/><Relationship Id="rId14" Type="http://schemas.openxmlformats.org/officeDocument/2006/relationships/slide" Target="slides/slide9.xml"/><Relationship Id="rId36" Type="http://schemas.openxmlformats.org/officeDocument/2006/relationships/font" Target="fonts/Montserrat-italic.fntdata"/><Relationship Id="rId17" Type="http://schemas.openxmlformats.org/officeDocument/2006/relationships/slide" Target="slides/slide12.xml"/><Relationship Id="rId39" Type="http://schemas.openxmlformats.org/officeDocument/2006/relationships/font" Target="fonts/Lato-bold.fntdata"/><Relationship Id="rId16" Type="http://schemas.openxmlformats.org/officeDocument/2006/relationships/slide" Target="slides/slide11.xml"/><Relationship Id="rId38" Type="http://schemas.openxmlformats.org/officeDocument/2006/relationships/font" Target="fonts/Lat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80a66b1d64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80a66b1d64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015cd80f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015cd80f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2eaf38000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2eaf38000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eaf380007c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eaf380007c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2eaf380007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2eaf380007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2eaf380007c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2eaf380007c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eaf380007c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eaf380007c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eaf380007c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eaf380007c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eaf380007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eaf380007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eaf380007c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eaf380007c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eaf380007c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eaf380007c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2eaf380007c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7" name="Google Shape;207;g2eaf380007c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2eaf380007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2eaf380007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eaf380007c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2eaf380007c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eaf380007c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eaf380007c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2eaf380007c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2eaf380007c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2781dfaf9ec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2781dfaf9ec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2786c38a7e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2786c38a7e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2eaf380007c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2eaf380007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2eaf380007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2eaf380007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2eaf380007c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2eaf380007c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2eaf380007c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2eaf380007c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6e688af8a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6e688af8a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6e688af8a9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6e688af8a9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 name="Google Shape;16;p2"/>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17" name="Google Shape;17;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8" name="Google Shape;18;p2"/>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3"/>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0" name="Google Shape;40;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1" name="Google Shape;41;p3"/>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2" name="Shape 42"/>
        <p:cNvGrpSpPr/>
        <p:nvPr/>
      </p:nvGrpSpPr>
      <p:grpSpPr>
        <a:xfrm>
          <a:off x="0" y="0"/>
          <a:ext cx="0" cy="0"/>
          <a:chOff x="0" y="0"/>
          <a:chExt cx="0" cy="0"/>
        </a:xfrm>
      </p:grpSpPr>
      <p:grpSp>
        <p:nvGrpSpPr>
          <p:cNvPr id="43" name="Google Shape;43;p4"/>
          <p:cNvGrpSpPr/>
          <p:nvPr/>
        </p:nvGrpSpPr>
        <p:grpSpPr>
          <a:xfrm>
            <a:off x="0" y="381001"/>
            <a:ext cx="1037850" cy="1016287"/>
            <a:chOff x="0" y="381001"/>
            <a:chExt cx="1037850" cy="1016287"/>
          </a:xfrm>
        </p:grpSpPr>
        <p:sp>
          <p:nvSpPr>
            <p:cNvPr id="44" name="Google Shape;44;p4"/>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48" name="Google Shape;48;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49" name="Google Shape;49;p4"/>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0" name="Shape 50"/>
        <p:cNvGrpSpPr/>
        <p:nvPr/>
      </p:nvGrpSpPr>
      <p:grpSpPr>
        <a:xfrm>
          <a:off x="0" y="0"/>
          <a:ext cx="0" cy="0"/>
          <a:chOff x="0" y="0"/>
          <a:chExt cx="0" cy="0"/>
        </a:xfrm>
      </p:grpSpPr>
      <p:grpSp>
        <p:nvGrpSpPr>
          <p:cNvPr id="51" name="Google Shape;51;p5"/>
          <p:cNvGrpSpPr/>
          <p:nvPr/>
        </p:nvGrpSpPr>
        <p:grpSpPr>
          <a:xfrm>
            <a:off x="0" y="381001"/>
            <a:ext cx="1037850" cy="1016287"/>
            <a:chOff x="0" y="381001"/>
            <a:chExt cx="1037850" cy="1016287"/>
          </a:xfrm>
        </p:grpSpPr>
        <p:sp>
          <p:nvSpPr>
            <p:cNvPr id="52" name="Google Shape;52;p5"/>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5"/>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4" name="Google Shape;54;p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55" name="Google Shape;5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56" name="Google Shape;56;p5"/>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
        <p:nvSpPr>
          <p:cNvPr id="57" name="Google Shape;57;p5"/>
          <p:cNvSpPr txBox="1"/>
          <p:nvPr>
            <p:ph idx="1" type="body"/>
          </p:nvPr>
        </p:nvSpPr>
        <p:spPr>
          <a:xfrm>
            <a:off x="4933196" y="1625575"/>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58" name="Google Shape;58;p5"/>
          <p:cNvSpPr txBox="1"/>
          <p:nvPr>
            <p:ph idx="2" type="body"/>
          </p:nvPr>
        </p:nvSpPr>
        <p:spPr>
          <a:xfrm>
            <a:off x="1382946" y="1686750"/>
            <a:ext cx="3403200" cy="2911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9" name="Shape 59"/>
        <p:cNvGrpSpPr/>
        <p:nvPr/>
      </p:nvGrpSpPr>
      <p:grpSpPr>
        <a:xfrm>
          <a:off x="0" y="0"/>
          <a:ext cx="0" cy="0"/>
          <a:chOff x="0" y="0"/>
          <a:chExt cx="0" cy="0"/>
        </a:xfrm>
      </p:grpSpPr>
      <p:grpSp>
        <p:nvGrpSpPr>
          <p:cNvPr id="60" name="Google Shape;60;p6"/>
          <p:cNvGrpSpPr/>
          <p:nvPr/>
        </p:nvGrpSpPr>
        <p:grpSpPr>
          <a:xfrm>
            <a:off x="0" y="381001"/>
            <a:ext cx="1037850" cy="1016287"/>
            <a:chOff x="0" y="381001"/>
            <a:chExt cx="1037850" cy="1016287"/>
          </a:xfrm>
        </p:grpSpPr>
        <p:sp>
          <p:nvSpPr>
            <p:cNvPr id="61" name="Google Shape;61;p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3" name="Google Shape;63;p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64" name="Google Shape;64;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65" name="Google Shape;65;p6"/>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6" name="Shape 66"/>
        <p:cNvGrpSpPr/>
        <p:nvPr/>
      </p:nvGrpSpPr>
      <p:grpSpPr>
        <a:xfrm>
          <a:off x="0" y="0"/>
          <a:ext cx="0" cy="0"/>
          <a:chOff x="0" y="0"/>
          <a:chExt cx="0" cy="0"/>
        </a:xfrm>
      </p:grpSpPr>
      <p:grpSp>
        <p:nvGrpSpPr>
          <p:cNvPr id="67" name="Google Shape;67;p7"/>
          <p:cNvGrpSpPr/>
          <p:nvPr/>
        </p:nvGrpSpPr>
        <p:grpSpPr>
          <a:xfrm>
            <a:off x="0" y="381001"/>
            <a:ext cx="1037850" cy="1016287"/>
            <a:chOff x="0" y="381001"/>
            <a:chExt cx="1037850" cy="1016287"/>
          </a:xfrm>
        </p:grpSpPr>
        <p:sp>
          <p:nvSpPr>
            <p:cNvPr id="68" name="Google Shape;68;p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 name="Google Shape;70;p7"/>
          <p:cNvSpPr txBox="1"/>
          <p:nvPr>
            <p:ph type="title"/>
          </p:nvPr>
        </p:nvSpPr>
        <p:spPr>
          <a:xfrm>
            <a:off x="1297500" y="393750"/>
            <a:ext cx="3798900" cy="14931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1" name="Google Shape;71;p7"/>
          <p:cNvSpPr txBox="1"/>
          <p:nvPr>
            <p:ph idx="1" type="body"/>
          </p:nvPr>
        </p:nvSpPr>
        <p:spPr>
          <a:xfrm>
            <a:off x="1297500" y="1363800"/>
            <a:ext cx="3798900" cy="2415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72" name="Google Shape;7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73" name="Google Shape;73;p7"/>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4" name="Shape 74"/>
        <p:cNvGrpSpPr/>
        <p:nvPr/>
      </p:nvGrpSpPr>
      <p:grpSpPr>
        <a:xfrm>
          <a:off x="0" y="0"/>
          <a:ext cx="0" cy="0"/>
          <a:chOff x="0" y="0"/>
          <a:chExt cx="0" cy="0"/>
        </a:xfrm>
      </p:grpSpPr>
      <p:grpSp>
        <p:nvGrpSpPr>
          <p:cNvPr id="75" name="Google Shape;75;p8"/>
          <p:cNvGrpSpPr/>
          <p:nvPr/>
        </p:nvGrpSpPr>
        <p:grpSpPr>
          <a:xfrm>
            <a:off x="4406400" y="0"/>
            <a:ext cx="4737600" cy="5143500"/>
            <a:chOff x="4406400" y="0"/>
            <a:chExt cx="4737600" cy="5143500"/>
          </a:xfrm>
        </p:grpSpPr>
        <p:sp>
          <p:nvSpPr>
            <p:cNvPr id="76" name="Google Shape;76;p8"/>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8"/>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8"/>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8"/>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8"/>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8"/>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8"/>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8"/>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8"/>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8"/>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4" name="Google Shape;94;p8"/>
          <p:cNvSpPr txBox="1"/>
          <p:nvPr>
            <p:ph type="title"/>
          </p:nvPr>
        </p:nvSpPr>
        <p:spPr>
          <a:xfrm>
            <a:off x="823850" y="866775"/>
            <a:ext cx="4587000" cy="3521100"/>
          </a:xfrm>
          <a:prstGeom prst="rect">
            <a:avLst/>
          </a:prstGeom>
        </p:spPr>
        <p:txBody>
          <a:bodyPr anchorCtr="0" anchor="ctr"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 name="Google Shape;9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96" name="Google Shape;96;p8"/>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7" name="Shape 97"/>
        <p:cNvGrpSpPr/>
        <p:nvPr/>
      </p:nvGrpSpPr>
      <p:grpSpPr>
        <a:xfrm>
          <a:off x="0" y="0"/>
          <a:ext cx="0" cy="0"/>
          <a:chOff x="0" y="0"/>
          <a:chExt cx="0" cy="0"/>
        </a:xfrm>
      </p:grpSpPr>
      <p:grpSp>
        <p:nvGrpSpPr>
          <p:cNvPr id="98" name="Google Shape;98;p9"/>
          <p:cNvGrpSpPr/>
          <p:nvPr/>
        </p:nvGrpSpPr>
        <p:grpSpPr>
          <a:xfrm>
            <a:off x="0" y="381001"/>
            <a:ext cx="1037850" cy="1016287"/>
            <a:chOff x="0" y="381001"/>
            <a:chExt cx="1037850" cy="1016287"/>
          </a:xfrm>
        </p:grpSpPr>
        <p:sp>
          <p:nvSpPr>
            <p:cNvPr id="99" name="Google Shape;99;p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1" name="Google Shape;101;p9"/>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2" name="Google Shape;102;p9"/>
          <p:cNvSpPr txBox="1"/>
          <p:nvPr>
            <p:ph idx="1" type="subTitle"/>
          </p:nvPr>
        </p:nvSpPr>
        <p:spPr>
          <a:xfrm>
            <a:off x="1297500" y="3538000"/>
            <a:ext cx="3036300" cy="506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03" name="Google Shape;103;p9"/>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04" name="Google Shape;104;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05" name="Google Shape;105;p9"/>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06" name="Shape 106"/>
        <p:cNvGrpSpPr/>
        <p:nvPr/>
      </p:nvGrpSpPr>
      <p:grpSpPr>
        <a:xfrm>
          <a:off x="0" y="0"/>
          <a:ext cx="0" cy="0"/>
          <a:chOff x="0" y="0"/>
          <a:chExt cx="0" cy="0"/>
        </a:xfrm>
      </p:grpSpPr>
      <p:grpSp>
        <p:nvGrpSpPr>
          <p:cNvPr id="107" name="Google Shape;107;p10"/>
          <p:cNvGrpSpPr/>
          <p:nvPr/>
        </p:nvGrpSpPr>
        <p:grpSpPr>
          <a:xfrm>
            <a:off x="40600" y="3640247"/>
            <a:ext cx="698925" cy="684657"/>
            <a:chOff x="0" y="3785672"/>
            <a:chExt cx="698925" cy="684657"/>
          </a:xfrm>
        </p:grpSpPr>
        <p:sp>
          <p:nvSpPr>
            <p:cNvPr id="108" name="Google Shape;108;p10"/>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0"/>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10"/>
          <p:cNvSpPr txBox="1"/>
          <p:nvPr>
            <p:ph idx="1" type="body"/>
          </p:nvPr>
        </p:nvSpPr>
        <p:spPr>
          <a:xfrm>
            <a:off x="804625" y="3801100"/>
            <a:ext cx="6936000" cy="523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pic>
        <p:nvPicPr>
          <p:cNvPr id="111" name="Google Shape;111;p10"/>
          <p:cNvPicPr preferRelativeResize="0"/>
          <p:nvPr/>
        </p:nvPicPr>
        <p:blipFill rotWithShape="1">
          <a:blip r:embed="rId2">
            <a:alphaModFix/>
          </a:blip>
          <a:srcRect b="39581" l="0" r="0" t="0"/>
          <a:stretch/>
        </p:blipFill>
        <p:spPr>
          <a:xfrm>
            <a:off x="0" y="4536775"/>
            <a:ext cx="1382950" cy="60672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12" name="Shape 112"/>
        <p:cNvGrpSpPr/>
        <p:nvPr/>
      </p:nvGrpSpPr>
      <p:grpSpPr>
        <a:xfrm>
          <a:off x="0" y="0"/>
          <a:ext cx="0" cy="0"/>
          <a:chOff x="0" y="0"/>
          <a:chExt cx="0" cy="0"/>
        </a:xfrm>
      </p:grpSpPr>
      <p:grpSp>
        <p:nvGrpSpPr>
          <p:cNvPr id="113" name="Google Shape;113;p11"/>
          <p:cNvGrpSpPr/>
          <p:nvPr/>
        </p:nvGrpSpPr>
        <p:grpSpPr>
          <a:xfrm>
            <a:off x="4406400" y="0"/>
            <a:ext cx="4737600" cy="5143065"/>
            <a:chOff x="4406400" y="0"/>
            <a:chExt cx="4737600" cy="5143065"/>
          </a:xfrm>
        </p:grpSpPr>
        <p:sp>
          <p:nvSpPr>
            <p:cNvPr id="114" name="Google Shape;114;p11"/>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1"/>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1"/>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1"/>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1"/>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1"/>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1"/>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1"/>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1"/>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11"/>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11"/>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1"/>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1"/>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1"/>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1"/>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1"/>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2" name="Google Shape;132;p11"/>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33" name="Google Shape;133;p11"/>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134" name="Google Shape;134;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pic>
        <p:nvPicPr>
          <p:cNvPr id="135" name="Google Shape;135;p11"/>
          <p:cNvPicPr preferRelativeResize="0"/>
          <p:nvPr/>
        </p:nvPicPr>
        <p:blipFill rotWithShape="1">
          <a:blip r:embed="rId2">
            <a:alphaModFix/>
          </a:blip>
          <a:srcRect b="39581" l="0" r="0" t="0"/>
          <a:stretch/>
        </p:blipFill>
        <p:spPr>
          <a:xfrm>
            <a:off x="0" y="4536338"/>
            <a:ext cx="1382950" cy="60672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6" name="Shape 136"/>
        <p:cNvGrpSpPr/>
        <p:nvPr/>
      </p:nvGrpSpPr>
      <p:grpSpPr>
        <a:xfrm>
          <a:off x="0" y="0"/>
          <a:ext cx="0" cy="0"/>
          <a:chOff x="0" y="0"/>
          <a:chExt cx="0" cy="0"/>
        </a:xfrm>
      </p:grpSpPr>
      <p:pic>
        <p:nvPicPr>
          <p:cNvPr id="137" name="Google Shape;137;p12"/>
          <p:cNvPicPr preferRelativeResize="0"/>
          <p:nvPr/>
        </p:nvPicPr>
        <p:blipFill rotWithShape="1">
          <a:blip r:embed="rId2">
            <a:alphaModFix/>
          </a:blip>
          <a:srcRect b="0" l="0" r="0" t="0"/>
          <a:stretch/>
        </p:blipFill>
        <p:spPr>
          <a:xfrm>
            <a:off x="2955825" y="1398187"/>
            <a:ext cx="3232351" cy="234712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rgbClr val="FFFFFF"/>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4"/>
          <p:cNvSpPr txBox="1"/>
          <p:nvPr>
            <p:ph type="ctrTitle"/>
          </p:nvPr>
        </p:nvSpPr>
        <p:spPr>
          <a:xfrm>
            <a:off x="3537150" y="1578400"/>
            <a:ext cx="5017500" cy="15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800"/>
              <a:t>Impacts </a:t>
            </a:r>
            <a:endParaRPr sz="6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5"/>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800"/>
              <a:t>Lecture Goals</a:t>
            </a:r>
            <a:endParaRPr sz="4800"/>
          </a:p>
        </p:txBody>
      </p:sp>
      <p:sp>
        <p:nvSpPr>
          <p:cNvPr id="152" name="Google Shape;152;p15"/>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lang="en"/>
              <a:t>Understand: </a:t>
            </a:r>
            <a:endParaRPr/>
          </a:p>
          <a:p>
            <a:pPr indent="-311150" lvl="0" marL="457200" rtl="0" algn="l">
              <a:spcBef>
                <a:spcPts val="1600"/>
              </a:spcBef>
              <a:spcAft>
                <a:spcPts val="0"/>
              </a:spcAft>
              <a:buSzPts val="1300"/>
              <a:buChar char="●"/>
            </a:pPr>
            <a:r>
              <a:rPr lang="en"/>
              <a:t>Why impacts matter</a:t>
            </a:r>
            <a:endParaRPr/>
          </a:p>
          <a:p>
            <a:pPr indent="-311150" lvl="0" marL="457200" rtl="0" algn="l">
              <a:spcBef>
                <a:spcPts val="0"/>
              </a:spcBef>
              <a:spcAft>
                <a:spcPts val="0"/>
              </a:spcAft>
              <a:buSzPts val="1300"/>
              <a:buChar char="●"/>
            </a:pPr>
            <a:r>
              <a:rPr lang="en"/>
              <a:t>What people mean when they talk about “flow”</a:t>
            </a:r>
            <a:endParaRPr/>
          </a:p>
          <a:p>
            <a:pPr indent="-311150" lvl="0" marL="457200" rtl="0" algn="l">
              <a:spcBef>
                <a:spcPts val="0"/>
              </a:spcBef>
              <a:spcAft>
                <a:spcPts val="0"/>
              </a:spcAft>
              <a:buSzPts val="1300"/>
              <a:buChar char="●"/>
            </a:pPr>
            <a:r>
              <a:rPr lang="en"/>
              <a:t>How the flow in Congress is unique</a:t>
            </a:r>
            <a:endParaRPr/>
          </a:p>
          <a:p>
            <a:pPr indent="-311150" lvl="0" marL="457200" rtl="0" algn="l">
              <a:spcBef>
                <a:spcPts val="0"/>
              </a:spcBef>
              <a:spcAft>
                <a:spcPts val="0"/>
              </a:spcAft>
              <a:buSzPts val="1300"/>
              <a:buChar char="●"/>
            </a:pPr>
            <a:r>
              <a:rPr lang="en"/>
              <a:t>How to tailor impacts to the “flow” </a:t>
            </a:r>
            <a:endParaRPr/>
          </a:p>
          <a:p>
            <a:pPr indent="-311150" lvl="0" marL="457200" rtl="0" algn="l">
              <a:spcBef>
                <a:spcPts val="0"/>
              </a:spcBef>
              <a:spcAft>
                <a:spcPts val="0"/>
              </a:spcAft>
              <a:buSzPts val="1300"/>
              <a:buChar char="●"/>
            </a:pPr>
            <a:r>
              <a:rPr lang="en"/>
              <a:t>Redefine what the “best impact” means</a:t>
            </a:r>
            <a:endParaRPr/>
          </a:p>
          <a:p>
            <a:pPr indent="0" lvl="0" marL="0" rtl="0" algn="l">
              <a:spcBef>
                <a:spcPts val="1600"/>
              </a:spcBef>
              <a:spcAft>
                <a:spcPts val="0"/>
              </a:spcAft>
              <a:buClr>
                <a:schemeClr val="lt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400"/>
              <a:t>What is an Impact?</a:t>
            </a:r>
            <a:endParaRPr sz="4400"/>
          </a:p>
        </p:txBody>
      </p:sp>
      <p:sp>
        <p:nvSpPr>
          <p:cNvPr id="158" name="Google Shape;158;p1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Between the block format and CWEI it is the only constant</a:t>
            </a:r>
            <a:endParaRPr sz="1500"/>
          </a:p>
          <a:p>
            <a:pPr indent="-323850" lvl="0" marL="457200" rtl="0" algn="l">
              <a:lnSpc>
                <a:spcPct val="150000"/>
              </a:lnSpc>
              <a:spcBef>
                <a:spcPts val="0"/>
              </a:spcBef>
              <a:spcAft>
                <a:spcPts val="0"/>
              </a:spcAft>
              <a:buSzPts val="1500"/>
              <a:buChar char="●"/>
            </a:pPr>
            <a:r>
              <a:rPr lang="en" sz="1500"/>
              <a:t>Everyone has some idea of what they should do</a:t>
            </a:r>
            <a:endParaRPr sz="1500"/>
          </a:p>
          <a:p>
            <a:pPr indent="-323850" lvl="0" marL="457200" rtl="0" algn="l">
              <a:lnSpc>
                <a:spcPct val="150000"/>
              </a:lnSpc>
              <a:spcBef>
                <a:spcPts val="0"/>
              </a:spcBef>
              <a:spcAft>
                <a:spcPts val="0"/>
              </a:spcAft>
              <a:buSzPts val="1500"/>
              <a:buChar char="●"/>
            </a:pPr>
            <a:r>
              <a:rPr b="1" lang="en" sz="1500"/>
              <a:t>Make judges care</a:t>
            </a:r>
            <a:endParaRPr b="1" sz="1500"/>
          </a:p>
          <a:p>
            <a:pPr indent="-323850" lvl="0" marL="457200" rtl="0" algn="l">
              <a:lnSpc>
                <a:spcPct val="150000"/>
              </a:lnSpc>
              <a:spcBef>
                <a:spcPts val="0"/>
              </a:spcBef>
              <a:spcAft>
                <a:spcPts val="0"/>
              </a:spcAft>
              <a:buSzPts val="1500"/>
              <a:buChar char="●"/>
            </a:pPr>
            <a:r>
              <a:rPr lang="en" sz="1500"/>
              <a:t>But what do judges care about?</a:t>
            </a:r>
            <a:endParaRPr sz="1500"/>
          </a:p>
          <a:p>
            <a:pPr indent="0" lvl="0" marL="0" rtl="0" algn="l">
              <a:spcBef>
                <a:spcPts val="1600"/>
              </a:spcBef>
              <a:spcAft>
                <a:spcPts val="0"/>
              </a:spcAft>
              <a:buClr>
                <a:schemeClr val="lt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7"/>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300"/>
              <a:t>What is the “flow”?</a:t>
            </a:r>
            <a:endParaRPr sz="3300"/>
          </a:p>
        </p:txBody>
      </p:sp>
      <p:sp>
        <p:nvSpPr>
          <p:cNvPr id="164" name="Google Shape;164;p17"/>
          <p:cNvSpPr txBox="1"/>
          <p:nvPr/>
        </p:nvSpPr>
        <p:spPr>
          <a:xfrm>
            <a:off x="808375" y="3458825"/>
            <a:ext cx="4638300" cy="331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lt1"/>
                </a:solidFill>
                <a:latin typeface="Lato"/>
                <a:ea typeface="Lato"/>
                <a:cs typeface="Lato"/>
                <a:sym typeface="Lato"/>
              </a:rPr>
              <a:t>To most people, the “flow” is what pushes the needle for either side</a:t>
            </a:r>
            <a:endParaRPr sz="13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ph type="title"/>
          </p:nvPr>
        </p:nvSpPr>
        <p:spPr>
          <a:xfrm>
            <a:off x="1297500" y="1658325"/>
            <a:ext cx="3036300" cy="175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I’m sure you’ve all head this:</a:t>
            </a:r>
            <a:endParaRPr sz="3200"/>
          </a:p>
        </p:txBody>
      </p:sp>
      <p:sp>
        <p:nvSpPr>
          <p:cNvPr id="170" name="Google Shape;170;p18"/>
          <p:cNvSpPr txBox="1"/>
          <p:nvPr>
            <p:ph idx="2" type="body"/>
          </p:nvPr>
        </p:nvSpPr>
        <p:spPr>
          <a:xfrm>
            <a:off x="4648200" y="1696600"/>
            <a:ext cx="3676800" cy="234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500"/>
              <a:t>“I’m more of a flow debater”</a:t>
            </a:r>
            <a:endParaRPr sz="1500"/>
          </a:p>
          <a:p>
            <a:pPr indent="0" lvl="0" marL="0" rtl="0" algn="l">
              <a:spcBef>
                <a:spcPts val="1600"/>
              </a:spcBef>
              <a:spcAft>
                <a:spcPts val="0"/>
              </a:spcAft>
              <a:buNone/>
            </a:pPr>
            <a:r>
              <a:rPr lang="en" sz="1500"/>
              <a:t>“I think senator _____ won the flow”</a:t>
            </a:r>
            <a:endParaRPr sz="1500"/>
          </a:p>
          <a:p>
            <a:pPr indent="0" lvl="0" marL="0" rtl="0" algn="l">
              <a:spcBef>
                <a:spcPts val="1600"/>
              </a:spcBef>
              <a:spcAft>
                <a:spcPts val="0"/>
              </a:spcAft>
              <a:buClr>
                <a:schemeClr val="lt1"/>
              </a:buClr>
              <a:buSzPts val="1100"/>
              <a:buFont typeface="Arial"/>
              <a:buNone/>
            </a:pPr>
            <a:r>
              <a:rPr lang="en" sz="1500"/>
              <a:t>“I won the flow, but the stupid lay judges dropped me”.</a:t>
            </a:r>
            <a:endParaRPr sz="1500"/>
          </a:p>
          <a:p>
            <a:pPr indent="0" lvl="0" marL="0" rtl="0" algn="l">
              <a:spcBef>
                <a:spcPts val="1600"/>
              </a:spcBef>
              <a:spcAft>
                <a:spcPts val="0"/>
              </a:spcAft>
              <a:buClr>
                <a:schemeClr val="lt1"/>
              </a:buClr>
              <a:buSzPts val="1100"/>
              <a:buFont typeface="Arial"/>
              <a:buNone/>
            </a:pPr>
            <a:r>
              <a:t/>
            </a:r>
            <a:endParaRPr sz="1500"/>
          </a:p>
          <a:p>
            <a:pPr indent="0" lvl="0" marL="0" rtl="0" algn="l">
              <a:spcBef>
                <a:spcPts val="1600"/>
              </a:spcBef>
              <a:spcAft>
                <a:spcPts val="160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Where Does the Flow Come From?</a:t>
            </a:r>
            <a:endParaRPr sz="3000"/>
          </a:p>
        </p:txBody>
      </p:sp>
      <p:sp>
        <p:nvSpPr>
          <p:cNvPr id="176" name="Google Shape;176;p19"/>
          <p:cNvSpPr txBox="1"/>
          <p:nvPr>
            <p:ph idx="2" type="body"/>
          </p:nvPr>
        </p:nvSpPr>
        <p:spPr>
          <a:xfrm>
            <a:off x="1382946" y="16867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PF, LD, CX</a:t>
            </a:r>
            <a:endParaRPr sz="1800"/>
          </a:p>
          <a:p>
            <a:pPr indent="-323850" lvl="0" marL="457200" rtl="0" algn="l">
              <a:spcBef>
                <a:spcPts val="1600"/>
              </a:spcBef>
              <a:spcAft>
                <a:spcPts val="0"/>
              </a:spcAft>
              <a:buSzPts val="1500"/>
              <a:buChar char="●"/>
            </a:pPr>
            <a:r>
              <a:rPr lang="en" sz="1500"/>
              <a:t>What side wins on net, i.e. gooder good or badder bad</a:t>
            </a:r>
            <a:endParaRPr sz="1500"/>
          </a:p>
          <a:p>
            <a:pPr indent="0" lvl="0" marL="0" rtl="0" algn="l">
              <a:spcBef>
                <a:spcPts val="1600"/>
              </a:spcBef>
              <a:spcAft>
                <a:spcPts val="0"/>
              </a:spcAft>
              <a:buNone/>
            </a:pPr>
            <a:r>
              <a:t/>
            </a:r>
            <a:endParaRPr sz="1500"/>
          </a:p>
          <a:p>
            <a:pPr indent="0" lvl="0" marL="0" rtl="0" algn="l">
              <a:spcBef>
                <a:spcPts val="1600"/>
              </a:spcBef>
              <a:spcAft>
                <a:spcPts val="0"/>
              </a:spcAft>
              <a:buNone/>
            </a:pPr>
            <a:r>
              <a:rPr lang="en" sz="1800"/>
              <a:t>“Flowing”</a:t>
            </a:r>
            <a:endParaRPr sz="1800"/>
          </a:p>
          <a:p>
            <a:pPr indent="-323850" lvl="0" marL="457200" rtl="0" algn="l">
              <a:spcBef>
                <a:spcPts val="1600"/>
              </a:spcBef>
              <a:spcAft>
                <a:spcPts val="0"/>
              </a:spcAft>
              <a:buSzPts val="1500"/>
              <a:buChar char="●"/>
            </a:pPr>
            <a:r>
              <a:rPr lang="en" sz="1500"/>
              <a:t>Understanding how all arguments interact and compliment or contrast</a:t>
            </a:r>
            <a:endParaRPr sz="1500"/>
          </a:p>
          <a:p>
            <a:pPr indent="0" lvl="0" marL="0" rtl="0" algn="l">
              <a:spcBef>
                <a:spcPts val="1600"/>
              </a:spcBef>
              <a:spcAft>
                <a:spcPts val="0"/>
              </a:spcAft>
              <a:buClr>
                <a:schemeClr val="lt1"/>
              </a:buClr>
              <a:buSzPts val="1100"/>
              <a:buFont typeface="Arial"/>
              <a:buNone/>
            </a:pPr>
            <a:r>
              <a:t/>
            </a:r>
            <a:endParaRPr/>
          </a:p>
          <a:p>
            <a:pPr indent="0" lvl="0" marL="0" rtl="0" algn="l">
              <a:spcBef>
                <a:spcPts val="1600"/>
              </a:spcBef>
              <a:spcAft>
                <a:spcPts val="1600"/>
              </a:spcAft>
              <a:buNone/>
            </a:pPr>
            <a:r>
              <a:t/>
            </a:r>
            <a:endParaRPr/>
          </a:p>
        </p:txBody>
      </p:sp>
      <p:sp>
        <p:nvSpPr>
          <p:cNvPr id="177" name="Google Shape;177;p19"/>
          <p:cNvSpPr txBox="1"/>
          <p:nvPr>
            <p:ph idx="1" type="body"/>
          </p:nvPr>
        </p:nvSpPr>
        <p:spPr>
          <a:xfrm>
            <a:off x="4933196" y="16867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Tech</a:t>
            </a:r>
            <a:endParaRPr sz="1800"/>
          </a:p>
          <a:p>
            <a:pPr indent="-323850" lvl="0" marL="457200" rtl="0" algn="l">
              <a:spcBef>
                <a:spcPts val="1600"/>
              </a:spcBef>
              <a:spcAft>
                <a:spcPts val="0"/>
              </a:spcAft>
              <a:buSzPts val="1500"/>
              <a:buChar char="●"/>
            </a:pPr>
            <a:r>
              <a:rPr lang="en" sz="1500"/>
              <a:t>Something is true on the flow unless proven otherwise</a:t>
            </a:r>
            <a:endParaRPr sz="1500"/>
          </a:p>
          <a:p>
            <a:pPr indent="0" lvl="0" marL="0" rtl="0" algn="l">
              <a:spcBef>
                <a:spcPts val="1600"/>
              </a:spcBef>
              <a:spcAft>
                <a:spcPts val="0"/>
              </a:spcAft>
              <a:buNone/>
            </a:pPr>
            <a:r>
              <a:t/>
            </a:r>
            <a:endParaRPr sz="1500"/>
          </a:p>
          <a:p>
            <a:pPr indent="0" lvl="0" marL="0" rtl="0" algn="l">
              <a:spcBef>
                <a:spcPts val="1600"/>
              </a:spcBef>
              <a:spcAft>
                <a:spcPts val="0"/>
              </a:spcAft>
              <a:buNone/>
            </a:pPr>
            <a:r>
              <a:rPr lang="en" sz="1800"/>
              <a:t>Truth</a:t>
            </a:r>
            <a:endParaRPr sz="1800"/>
          </a:p>
          <a:p>
            <a:pPr indent="-323850" lvl="0" marL="457200" rtl="0" algn="l">
              <a:spcBef>
                <a:spcPts val="1600"/>
              </a:spcBef>
              <a:spcAft>
                <a:spcPts val="0"/>
              </a:spcAft>
              <a:buSzPts val="1500"/>
              <a:buChar char="●"/>
            </a:pPr>
            <a:r>
              <a:rPr lang="en" sz="1500"/>
              <a:t>Something completely stupid will not be weighed</a:t>
            </a:r>
            <a:endParaRPr sz="1500"/>
          </a:p>
          <a:p>
            <a:pPr indent="0" lvl="0" marL="0" rtl="0" algn="l">
              <a:spcBef>
                <a:spcPts val="1600"/>
              </a:spcBef>
              <a:spcAft>
                <a:spcPts val="1600"/>
              </a:spcAft>
              <a:buNone/>
            </a:pPr>
            <a:r>
              <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0"/>
          <p:cNvSpPr txBox="1"/>
          <p:nvPr>
            <p:ph type="title"/>
          </p:nvPr>
        </p:nvSpPr>
        <p:spPr>
          <a:xfrm>
            <a:off x="823850" y="1284675"/>
            <a:ext cx="4776000" cy="130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100"/>
              <a:t>Congress Flow is Unique</a:t>
            </a:r>
            <a:endParaRPr sz="4100"/>
          </a:p>
        </p:txBody>
      </p:sp>
      <p:sp>
        <p:nvSpPr>
          <p:cNvPr id="183" name="Google Shape;183;p20"/>
          <p:cNvSpPr txBox="1"/>
          <p:nvPr>
            <p:ph idx="1" type="body"/>
          </p:nvPr>
        </p:nvSpPr>
        <p:spPr>
          <a:xfrm>
            <a:off x="823850" y="2643124"/>
            <a:ext cx="4776000" cy="1218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700"/>
              <a:t>The Judges can roleplay too</a:t>
            </a:r>
            <a:endParaRPr sz="17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1"/>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100"/>
              <a:t>Important Concepts</a:t>
            </a:r>
            <a:endParaRPr sz="4100"/>
          </a:p>
        </p:txBody>
      </p:sp>
      <p:sp>
        <p:nvSpPr>
          <p:cNvPr id="189" name="Google Shape;189;p21"/>
          <p:cNvSpPr txBox="1"/>
          <p:nvPr>
            <p:ph idx="2" type="body"/>
          </p:nvPr>
        </p:nvSpPr>
        <p:spPr>
          <a:xfrm>
            <a:off x="1382946" y="1686750"/>
            <a:ext cx="3403200" cy="2911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The Judges Roleplay</a:t>
            </a:r>
            <a:endParaRPr sz="1500"/>
          </a:p>
          <a:p>
            <a:pPr indent="-323850" lvl="1" marL="914400" rtl="0" algn="l">
              <a:spcBef>
                <a:spcPts val="0"/>
              </a:spcBef>
              <a:spcAft>
                <a:spcPts val="0"/>
              </a:spcAft>
              <a:buSzPts val="1500"/>
              <a:buChar char="○"/>
            </a:pPr>
            <a:r>
              <a:rPr lang="en" sz="1500"/>
              <a:t>They quite literally </a:t>
            </a:r>
            <a:r>
              <a:rPr b="1" lang="en" sz="1500"/>
              <a:t>are</a:t>
            </a:r>
            <a:r>
              <a:rPr lang="en" sz="1500"/>
              <a:t> your constituents</a:t>
            </a:r>
            <a:endParaRPr sz="1500"/>
          </a:p>
          <a:p>
            <a:pPr indent="0" lvl="0" marL="0" rtl="0" algn="l">
              <a:spcBef>
                <a:spcPts val="1600"/>
              </a:spcBef>
              <a:spcAft>
                <a:spcPts val="0"/>
              </a:spcAft>
              <a:buNone/>
            </a:pPr>
            <a:r>
              <a:t/>
            </a:r>
            <a:endParaRPr sz="1500"/>
          </a:p>
          <a:p>
            <a:pPr indent="-323850" lvl="0" marL="457200" rtl="0" algn="l">
              <a:spcBef>
                <a:spcPts val="1600"/>
              </a:spcBef>
              <a:spcAft>
                <a:spcPts val="0"/>
              </a:spcAft>
              <a:buSzPts val="1500"/>
              <a:buChar char="●"/>
            </a:pPr>
            <a:r>
              <a:rPr lang="en" sz="1500"/>
              <a:t>Judges Implicitly Weigh</a:t>
            </a:r>
            <a:endParaRPr sz="1500"/>
          </a:p>
          <a:p>
            <a:pPr indent="-323850" lvl="1" marL="914400" rtl="0" algn="l">
              <a:spcBef>
                <a:spcPts val="0"/>
              </a:spcBef>
              <a:spcAft>
                <a:spcPts val="0"/>
              </a:spcAft>
              <a:buSzPts val="1500"/>
              <a:buChar char="○"/>
            </a:pPr>
            <a:r>
              <a:rPr lang="en" sz="1500"/>
              <a:t>Will </a:t>
            </a:r>
            <a:r>
              <a:rPr b="1" lang="en" sz="1500"/>
              <a:t>THEIR</a:t>
            </a:r>
            <a:r>
              <a:rPr lang="en" sz="1500"/>
              <a:t> life be better or worse?</a:t>
            </a:r>
            <a:endParaRPr sz="1500"/>
          </a:p>
        </p:txBody>
      </p:sp>
      <p:sp>
        <p:nvSpPr>
          <p:cNvPr id="190" name="Google Shape;190;p21"/>
          <p:cNvSpPr txBox="1"/>
          <p:nvPr>
            <p:ph idx="1" type="body"/>
          </p:nvPr>
        </p:nvSpPr>
        <p:spPr>
          <a:xfrm>
            <a:off x="4933196" y="1686750"/>
            <a:ext cx="3403200" cy="2911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What Changes?</a:t>
            </a:r>
            <a:endParaRPr sz="1500"/>
          </a:p>
          <a:p>
            <a:pPr indent="-323850" lvl="1" marL="914400" rtl="0" algn="l">
              <a:spcBef>
                <a:spcPts val="0"/>
              </a:spcBef>
              <a:spcAft>
                <a:spcPts val="0"/>
              </a:spcAft>
              <a:buSzPts val="1500"/>
              <a:buChar char="○"/>
            </a:pPr>
            <a:r>
              <a:rPr lang="en" sz="1500"/>
              <a:t>“On net” does not matter to some judges</a:t>
            </a:r>
            <a:endParaRPr sz="1500"/>
          </a:p>
          <a:p>
            <a:pPr indent="0" lvl="0" marL="0" rtl="0" algn="l">
              <a:spcBef>
                <a:spcPts val="1600"/>
              </a:spcBef>
              <a:spcAft>
                <a:spcPts val="0"/>
              </a:spcAft>
              <a:buNone/>
            </a:pPr>
            <a:r>
              <a:t/>
            </a:r>
            <a:endParaRPr sz="1500"/>
          </a:p>
          <a:p>
            <a:pPr indent="-323850" lvl="0" marL="457200" rtl="0" algn="l">
              <a:spcBef>
                <a:spcPts val="1600"/>
              </a:spcBef>
              <a:spcAft>
                <a:spcPts val="0"/>
              </a:spcAft>
              <a:buSzPts val="1500"/>
              <a:buChar char="●"/>
            </a:pPr>
            <a:r>
              <a:rPr lang="en" sz="1500"/>
              <a:t>What Wins?</a:t>
            </a:r>
            <a:endParaRPr sz="1500"/>
          </a:p>
          <a:p>
            <a:pPr indent="-323850" lvl="1" marL="914400" rtl="0" algn="l">
              <a:spcBef>
                <a:spcPts val="0"/>
              </a:spcBef>
              <a:spcAft>
                <a:spcPts val="0"/>
              </a:spcAft>
              <a:buSzPts val="1500"/>
              <a:buChar char="○"/>
            </a:pPr>
            <a:r>
              <a:rPr lang="en" sz="1500"/>
              <a:t>What do Americans care about the most?</a:t>
            </a:r>
            <a:endParaRPr sz="15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700"/>
              <a:t>2023 Senate</a:t>
            </a:r>
            <a:r>
              <a:rPr lang="en" sz="4700"/>
              <a:t> Flow?</a:t>
            </a:r>
            <a:endParaRPr sz="4700"/>
          </a:p>
        </p:txBody>
      </p:sp>
      <p:sp>
        <p:nvSpPr>
          <p:cNvPr id="196" name="Google Shape;196;p22"/>
          <p:cNvSpPr txBox="1"/>
          <p:nvPr>
            <p:ph idx="1" type="body"/>
          </p:nvPr>
        </p:nvSpPr>
        <p:spPr>
          <a:xfrm>
            <a:off x="4933196" y="16867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Carbon Tax Neg</a:t>
            </a:r>
            <a:endParaRPr sz="1800"/>
          </a:p>
          <a:p>
            <a:pPr indent="-342900" lvl="0" marL="457200" rtl="0" algn="l">
              <a:lnSpc>
                <a:spcPct val="150000"/>
              </a:lnSpc>
              <a:spcBef>
                <a:spcPts val="1600"/>
              </a:spcBef>
              <a:spcAft>
                <a:spcPts val="0"/>
              </a:spcAft>
              <a:buSzPts val="1800"/>
              <a:buChar char="●"/>
            </a:pPr>
            <a:r>
              <a:rPr lang="en" sz="1800"/>
              <a:t>Tax will be regressive</a:t>
            </a:r>
            <a:endParaRPr sz="1800"/>
          </a:p>
          <a:p>
            <a:pPr indent="-342900" lvl="0" marL="457200" rtl="0" algn="l">
              <a:lnSpc>
                <a:spcPct val="150000"/>
              </a:lnSpc>
              <a:spcBef>
                <a:spcPts val="0"/>
              </a:spcBef>
              <a:spcAft>
                <a:spcPts val="0"/>
              </a:spcAft>
              <a:buSzPts val="1800"/>
              <a:buChar char="●"/>
            </a:pPr>
            <a:r>
              <a:rPr lang="en" sz="1800"/>
              <a:t>Solar panels are not an effective alternative </a:t>
            </a:r>
            <a:endParaRPr sz="1800"/>
          </a:p>
          <a:p>
            <a:pPr indent="-342900" lvl="0" marL="457200" rtl="0" algn="l">
              <a:spcBef>
                <a:spcPts val="0"/>
              </a:spcBef>
              <a:spcAft>
                <a:spcPts val="0"/>
              </a:spcAft>
              <a:buSzPts val="1800"/>
              <a:buChar char="●"/>
            </a:pPr>
            <a:r>
              <a:rPr lang="en" sz="1800"/>
              <a:t>Energy bills increase</a:t>
            </a:r>
            <a:endParaRPr sz="1800"/>
          </a:p>
        </p:txBody>
      </p:sp>
      <p:sp>
        <p:nvSpPr>
          <p:cNvPr id="197" name="Google Shape;197;p22"/>
          <p:cNvSpPr txBox="1"/>
          <p:nvPr>
            <p:ph idx="2" type="body"/>
          </p:nvPr>
        </p:nvSpPr>
        <p:spPr>
          <a:xfrm>
            <a:off x="1382946" y="1686750"/>
            <a:ext cx="34032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Carbon Tax Aff</a:t>
            </a:r>
            <a:endParaRPr sz="1800"/>
          </a:p>
          <a:p>
            <a:pPr indent="-342900" lvl="0" marL="457200" rtl="0" algn="l">
              <a:lnSpc>
                <a:spcPct val="150000"/>
              </a:lnSpc>
              <a:spcBef>
                <a:spcPts val="1600"/>
              </a:spcBef>
              <a:spcAft>
                <a:spcPts val="0"/>
              </a:spcAft>
              <a:buSzPts val="1800"/>
              <a:buChar char="●"/>
            </a:pPr>
            <a:r>
              <a:rPr lang="en" sz="1800"/>
              <a:t>Help environment</a:t>
            </a:r>
            <a:endParaRPr sz="1800"/>
          </a:p>
          <a:p>
            <a:pPr indent="-342900" lvl="0" marL="457200" rtl="0" algn="l">
              <a:lnSpc>
                <a:spcPct val="150000"/>
              </a:lnSpc>
              <a:spcBef>
                <a:spcPts val="0"/>
              </a:spcBef>
              <a:spcAft>
                <a:spcPts val="0"/>
              </a:spcAft>
              <a:buSzPts val="1800"/>
              <a:buChar char="●"/>
            </a:pPr>
            <a:r>
              <a:rPr lang="en" sz="1800"/>
              <a:t>Decrease emissions</a:t>
            </a:r>
            <a:endParaRPr sz="1800"/>
          </a:p>
          <a:p>
            <a:pPr indent="-342900" lvl="0" marL="457200" rtl="0" algn="l">
              <a:lnSpc>
                <a:spcPct val="150000"/>
              </a:lnSpc>
              <a:spcBef>
                <a:spcPts val="0"/>
              </a:spcBef>
              <a:spcAft>
                <a:spcPts val="0"/>
              </a:spcAft>
              <a:buSzPts val="1800"/>
              <a:buChar char="●"/>
            </a:pPr>
            <a:r>
              <a:rPr lang="en" sz="1800"/>
              <a:t>Long term cost saving with renewables</a:t>
            </a:r>
            <a:endParaRPr sz="1800"/>
          </a:p>
        </p:txBody>
      </p:sp>
      <p:sp>
        <p:nvSpPr>
          <p:cNvPr id="198" name="Google Shape;198;p22"/>
          <p:cNvSpPr txBox="1"/>
          <p:nvPr/>
        </p:nvSpPr>
        <p:spPr>
          <a:xfrm>
            <a:off x="1431300" y="4240700"/>
            <a:ext cx="6281400" cy="543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lt1"/>
                </a:solidFill>
                <a:latin typeface="Lato"/>
                <a:ea typeface="Lato"/>
                <a:cs typeface="Lato"/>
                <a:sym typeface="Lato"/>
              </a:rPr>
              <a:t>What would judges value more?</a:t>
            </a:r>
            <a:endParaRPr sz="2000">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300"/>
              <a:t>Which Carbon Tax Impact Wins?</a:t>
            </a:r>
            <a:endParaRPr sz="3300"/>
          </a:p>
        </p:txBody>
      </p:sp>
      <p:sp>
        <p:nvSpPr>
          <p:cNvPr id="204" name="Google Shape;204;p2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Let’s illustrate the comparative:</a:t>
            </a:r>
            <a:endParaRPr sz="1800"/>
          </a:p>
          <a:p>
            <a:pPr indent="-323850" lvl="0" marL="457200" rtl="0" algn="l">
              <a:lnSpc>
                <a:spcPct val="150000"/>
              </a:lnSpc>
              <a:spcBef>
                <a:spcPts val="1600"/>
              </a:spcBef>
              <a:spcAft>
                <a:spcPts val="0"/>
              </a:spcAft>
              <a:buSzPts val="1500"/>
              <a:buChar char="●"/>
            </a:pPr>
            <a:r>
              <a:rPr lang="en" sz="1500"/>
              <a:t>Debaters are talking to the judges</a:t>
            </a:r>
            <a:endParaRPr sz="1500"/>
          </a:p>
          <a:p>
            <a:pPr indent="-323850" lvl="0" marL="457200" rtl="0" algn="l">
              <a:lnSpc>
                <a:spcPct val="150000"/>
              </a:lnSpc>
              <a:spcBef>
                <a:spcPts val="0"/>
              </a:spcBef>
              <a:spcAft>
                <a:spcPts val="0"/>
              </a:spcAft>
              <a:buSzPts val="1500"/>
              <a:buChar char="●"/>
            </a:pPr>
            <a:r>
              <a:rPr lang="en" sz="1500"/>
              <a:t>Aff- bill protects </a:t>
            </a:r>
            <a:r>
              <a:rPr lang="en" sz="1500"/>
              <a:t>environment</a:t>
            </a:r>
            <a:r>
              <a:rPr lang="en" sz="1500"/>
              <a:t> long term</a:t>
            </a:r>
            <a:endParaRPr sz="1500"/>
          </a:p>
          <a:p>
            <a:pPr indent="-323850" lvl="0" marL="457200" rtl="0" algn="l">
              <a:lnSpc>
                <a:spcPct val="150000"/>
              </a:lnSpc>
              <a:spcBef>
                <a:spcPts val="0"/>
              </a:spcBef>
              <a:spcAft>
                <a:spcPts val="0"/>
              </a:spcAft>
              <a:buSzPts val="1500"/>
              <a:buChar char="●"/>
            </a:pPr>
            <a:r>
              <a:rPr lang="en" sz="1500"/>
              <a:t>Neg- energy bills/prices increase short term</a:t>
            </a:r>
            <a:endParaRPr sz="1500"/>
          </a:p>
          <a:p>
            <a:pPr indent="-323850" lvl="0" marL="457200" rtl="0" algn="l">
              <a:lnSpc>
                <a:spcPct val="150000"/>
              </a:lnSpc>
              <a:spcBef>
                <a:spcPts val="0"/>
              </a:spcBef>
              <a:spcAft>
                <a:spcPts val="0"/>
              </a:spcAft>
              <a:buSzPts val="1500"/>
              <a:buChar char="●"/>
            </a:pPr>
            <a:r>
              <a:rPr lang="en" sz="1500"/>
              <a:t>Neither side effectively refutes these core args</a:t>
            </a:r>
            <a:endParaRPr sz="15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5200"/>
              <a:t>In LD, PF, CX:</a:t>
            </a:r>
            <a:endParaRPr sz="5200"/>
          </a:p>
        </p:txBody>
      </p:sp>
      <p:sp>
        <p:nvSpPr>
          <p:cNvPr id="210" name="Google Shape;210;p2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The Aff will </a:t>
            </a:r>
            <a:r>
              <a:rPr lang="en" sz="1800"/>
              <a:t>probably</a:t>
            </a:r>
            <a:r>
              <a:rPr lang="en" sz="1800"/>
              <a:t> win “on net”:</a:t>
            </a:r>
            <a:endParaRPr sz="1800"/>
          </a:p>
          <a:p>
            <a:pPr indent="-330200" lvl="0" marL="457200" rtl="0" algn="l">
              <a:lnSpc>
                <a:spcPct val="150000"/>
              </a:lnSpc>
              <a:spcBef>
                <a:spcPts val="1600"/>
              </a:spcBef>
              <a:spcAft>
                <a:spcPts val="0"/>
              </a:spcAft>
              <a:buSzPts val="1600"/>
              <a:buChar char="●"/>
            </a:pPr>
            <a:r>
              <a:rPr lang="en" sz="1600"/>
              <a:t>The </a:t>
            </a:r>
            <a:r>
              <a:rPr lang="en" sz="1600"/>
              <a:t>environment</a:t>
            </a:r>
            <a:r>
              <a:rPr lang="en" sz="1600"/>
              <a:t> </a:t>
            </a:r>
            <a:r>
              <a:rPr lang="en" sz="1600"/>
              <a:t>being protected long term has a greater magnitude than paying more on energy bills</a:t>
            </a:r>
            <a:endParaRPr sz="1600"/>
          </a:p>
          <a:p>
            <a:pPr indent="-330200" lvl="0" marL="457200" rtl="0" algn="l">
              <a:lnSpc>
                <a:spcPct val="150000"/>
              </a:lnSpc>
              <a:spcBef>
                <a:spcPts val="0"/>
              </a:spcBef>
              <a:spcAft>
                <a:spcPts val="0"/>
              </a:spcAft>
              <a:buSzPts val="1600"/>
              <a:buChar char="●"/>
            </a:pPr>
            <a:r>
              <a:rPr lang="en" sz="1600"/>
              <a:t>Long term typically outweighs the short term</a:t>
            </a:r>
            <a:endParaRPr sz="1600"/>
          </a:p>
          <a:p>
            <a:pPr indent="-330200" lvl="0" marL="457200" rtl="0" algn="l">
              <a:lnSpc>
                <a:spcPct val="150000"/>
              </a:lnSpc>
              <a:spcBef>
                <a:spcPts val="0"/>
              </a:spcBef>
              <a:spcAft>
                <a:spcPts val="0"/>
              </a:spcAft>
              <a:buSzPts val="1600"/>
              <a:buChar char="●"/>
            </a:pPr>
            <a:r>
              <a:rPr lang="en" sz="1600"/>
              <a:t>Environment is a prerequisite to all life, i.e. if the environment is severely damaged energy bills do not matter</a:t>
            </a:r>
            <a:endParaRPr sz="1600"/>
          </a:p>
          <a:p>
            <a:pPr indent="-330200" lvl="0" marL="457200" rtl="0" algn="l">
              <a:lnSpc>
                <a:spcPct val="150000"/>
              </a:lnSpc>
              <a:spcBef>
                <a:spcPts val="0"/>
              </a:spcBef>
              <a:spcAft>
                <a:spcPts val="0"/>
              </a:spcAft>
              <a:buSzPts val="1600"/>
              <a:buChar char="●"/>
            </a:pPr>
            <a:r>
              <a:rPr lang="en" sz="1600"/>
              <a:t>Long term price decreases are more cost-savings than short term bill increases</a:t>
            </a:r>
            <a:endParaRPr sz="16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000"/>
              <a:t>What the Average American Thinks</a:t>
            </a:r>
            <a:endParaRPr sz="3000"/>
          </a:p>
        </p:txBody>
      </p:sp>
      <p:sp>
        <p:nvSpPr>
          <p:cNvPr id="216" name="Google Shape;216;p2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600"/>
              <a:t>Anything that affects “your constituents” affects the judges:</a:t>
            </a:r>
            <a:endParaRPr sz="1600"/>
          </a:p>
          <a:p>
            <a:pPr indent="-330200" lvl="0" marL="457200" rtl="0" algn="l">
              <a:lnSpc>
                <a:spcPct val="150000"/>
              </a:lnSpc>
              <a:spcBef>
                <a:spcPts val="1600"/>
              </a:spcBef>
              <a:spcAft>
                <a:spcPts val="0"/>
              </a:spcAft>
              <a:buSzPts val="1600"/>
              <a:buChar char="●"/>
            </a:pPr>
            <a:r>
              <a:rPr lang="en" sz="1600"/>
              <a:t>I don’t want the </a:t>
            </a:r>
            <a:r>
              <a:rPr lang="en" sz="1600"/>
              <a:t>environment</a:t>
            </a:r>
            <a:r>
              <a:rPr lang="en" sz="1600"/>
              <a:t> to die, but energy bills are a much more immediate impact to my life</a:t>
            </a:r>
            <a:endParaRPr sz="1600"/>
          </a:p>
          <a:p>
            <a:pPr indent="-330200" lvl="0" marL="457200" rtl="0" algn="l">
              <a:lnSpc>
                <a:spcPct val="150000"/>
              </a:lnSpc>
              <a:spcBef>
                <a:spcPts val="0"/>
              </a:spcBef>
              <a:spcAft>
                <a:spcPts val="0"/>
              </a:spcAft>
              <a:buSzPts val="1600"/>
              <a:buChar char="●"/>
            </a:pPr>
            <a:r>
              <a:rPr lang="en" sz="1600"/>
              <a:t>The neg tends to win because even though most people want to help the </a:t>
            </a:r>
            <a:r>
              <a:rPr lang="en" sz="1600"/>
              <a:t>environment</a:t>
            </a:r>
            <a:r>
              <a:rPr lang="en" sz="1600"/>
              <a:t> </a:t>
            </a:r>
            <a:r>
              <a:rPr b="1" lang="en" sz="1600"/>
              <a:t>no one wants to pay more bills</a:t>
            </a:r>
            <a:endParaRPr b="1" sz="1600"/>
          </a:p>
          <a:p>
            <a:pPr indent="-330200" lvl="0" marL="457200" rtl="0" algn="l">
              <a:lnSpc>
                <a:spcPct val="150000"/>
              </a:lnSpc>
              <a:spcBef>
                <a:spcPts val="0"/>
              </a:spcBef>
              <a:spcAft>
                <a:spcPts val="0"/>
              </a:spcAft>
              <a:buSzPts val="1600"/>
              <a:buChar char="●"/>
            </a:pPr>
            <a:r>
              <a:rPr lang="en" sz="1600"/>
              <a:t>Even when the neg explicitly weighs the environment as more </a:t>
            </a:r>
            <a:r>
              <a:rPr lang="en" sz="1600"/>
              <a:t>important</a:t>
            </a:r>
            <a:r>
              <a:rPr lang="en" sz="1600"/>
              <a:t> than bills, judges tend to disregard that</a:t>
            </a:r>
            <a:endParaRPr sz="1600"/>
          </a:p>
          <a:p>
            <a:pPr indent="0" lvl="0" marL="0" rtl="0" algn="l">
              <a:spcBef>
                <a:spcPts val="1600"/>
              </a:spcBef>
              <a:spcAft>
                <a:spcPts val="1600"/>
              </a:spcAft>
              <a:buNone/>
            </a:pPr>
            <a:r>
              <a:t/>
            </a:r>
            <a:endParaRPr sz="16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4600"/>
              <a:t>What Matters?</a:t>
            </a:r>
            <a:endParaRPr sz="4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7"/>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700"/>
              <a:t>How to Approach Impacting</a:t>
            </a:r>
            <a:endParaRPr sz="3700"/>
          </a:p>
        </p:txBody>
      </p:sp>
      <p:sp>
        <p:nvSpPr>
          <p:cNvPr id="227" name="Google Shape;227;p27"/>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en" sz="1800"/>
              <a:t>FIRST AND FOREMOST:</a:t>
            </a:r>
            <a:r>
              <a:rPr lang="en" sz="1500"/>
              <a:t> </a:t>
            </a:r>
            <a:endParaRPr sz="1500"/>
          </a:p>
          <a:p>
            <a:pPr indent="-323850" lvl="0" marL="457200" rtl="0" algn="l">
              <a:lnSpc>
                <a:spcPct val="150000"/>
              </a:lnSpc>
              <a:spcBef>
                <a:spcPts val="1600"/>
              </a:spcBef>
              <a:spcAft>
                <a:spcPts val="0"/>
              </a:spcAft>
              <a:buSzPts val="1500"/>
              <a:buChar char="●"/>
            </a:pPr>
            <a:r>
              <a:rPr lang="en" sz="1500"/>
              <a:t>If </a:t>
            </a:r>
            <a:r>
              <a:rPr lang="en" sz="1500"/>
              <a:t>the</a:t>
            </a:r>
            <a:r>
              <a:rPr lang="en" sz="1500"/>
              <a:t> bill affects Americans and your impact is not about </a:t>
            </a:r>
            <a:r>
              <a:rPr lang="en" sz="1500"/>
              <a:t>improving</a:t>
            </a:r>
            <a:r>
              <a:rPr lang="en" sz="1500"/>
              <a:t> or worsening American life, the impact is bad</a:t>
            </a:r>
            <a:endParaRPr sz="1500"/>
          </a:p>
          <a:p>
            <a:pPr indent="-323850" lvl="0" marL="457200" rtl="0" algn="l">
              <a:lnSpc>
                <a:spcPct val="150000"/>
              </a:lnSpc>
              <a:spcBef>
                <a:spcPts val="0"/>
              </a:spcBef>
              <a:spcAft>
                <a:spcPts val="0"/>
              </a:spcAft>
              <a:buSzPts val="1500"/>
              <a:buChar char="●"/>
            </a:pPr>
            <a:r>
              <a:rPr lang="en" sz="1500"/>
              <a:t>People tend to impact serviceably on foreign policy, but if it includes the economy or war you can do a better job of humanizing it</a:t>
            </a:r>
            <a:endParaRPr sz="1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8"/>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100"/>
              <a:t>How to Approach Impacting cont.</a:t>
            </a:r>
            <a:endParaRPr sz="3100"/>
          </a:p>
        </p:txBody>
      </p:sp>
      <p:sp>
        <p:nvSpPr>
          <p:cNvPr id="233" name="Google Shape;233;p28"/>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How to literally do this:</a:t>
            </a:r>
            <a:endParaRPr sz="1800"/>
          </a:p>
          <a:p>
            <a:pPr indent="-323850" lvl="0" marL="457200" rtl="0" algn="l">
              <a:lnSpc>
                <a:spcPct val="150000"/>
              </a:lnSpc>
              <a:spcBef>
                <a:spcPts val="1600"/>
              </a:spcBef>
              <a:spcAft>
                <a:spcPts val="0"/>
              </a:spcAft>
              <a:buSzPts val="1500"/>
              <a:buChar char="●"/>
            </a:pPr>
            <a:r>
              <a:rPr lang="en" sz="1500"/>
              <a:t>I recommend asking non-debate people if they agree or disagree with an impact</a:t>
            </a:r>
            <a:endParaRPr sz="1500"/>
          </a:p>
          <a:p>
            <a:pPr indent="-323850" lvl="1" marL="914400" rtl="0" algn="l">
              <a:lnSpc>
                <a:spcPct val="150000"/>
              </a:lnSpc>
              <a:spcBef>
                <a:spcPts val="0"/>
              </a:spcBef>
              <a:spcAft>
                <a:spcPts val="0"/>
              </a:spcAft>
              <a:buSzPts val="1500"/>
              <a:buChar char="○"/>
            </a:pPr>
            <a:r>
              <a:rPr lang="en" sz="1500"/>
              <a:t>Preferably no one radical</a:t>
            </a:r>
            <a:endParaRPr sz="1500"/>
          </a:p>
          <a:p>
            <a:pPr indent="-323850" lvl="0" marL="457200" rtl="0" algn="l">
              <a:lnSpc>
                <a:spcPct val="150000"/>
              </a:lnSpc>
              <a:spcBef>
                <a:spcPts val="0"/>
              </a:spcBef>
              <a:spcAft>
                <a:spcPts val="0"/>
              </a:spcAft>
              <a:buSzPts val="1500"/>
              <a:buChar char="●"/>
            </a:pPr>
            <a:r>
              <a:rPr lang="en" sz="1500"/>
              <a:t>Tailor your rhetoric to be real, but not graphic or gratuitous </a:t>
            </a:r>
            <a:endParaRPr sz="1500"/>
          </a:p>
          <a:p>
            <a:pPr indent="-323850" lvl="0" marL="457200" rtl="0" algn="l">
              <a:lnSpc>
                <a:spcPct val="150000"/>
              </a:lnSpc>
              <a:spcBef>
                <a:spcPts val="0"/>
              </a:spcBef>
              <a:spcAft>
                <a:spcPts val="0"/>
              </a:spcAft>
              <a:buSzPts val="1500"/>
              <a:buChar char="●"/>
            </a:pPr>
            <a:r>
              <a:rPr lang="en" sz="1500"/>
              <a:t>Make it obvious to judges how their life will change</a:t>
            </a:r>
            <a:endParaRPr sz="15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9"/>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600"/>
              <a:t>Rhetorical</a:t>
            </a:r>
            <a:r>
              <a:rPr lang="en" sz="4600"/>
              <a:t> Impacting</a:t>
            </a:r>
            <a:endParaRPr sz="4600"/>
          </a:p>
        </p:txBody>
      </p:sp>
      <p:sp>
        <p:nvSpPr>
          <p:cNvPr id="239" name="Google Shape;239;p29"/>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500"/>
              <a:t>Great impacts </a:t>
            </a:r>
            <a:r>
              <a:rPr b="1" lang="en" sz="1500"/>
              <a:t>speak to the judges </a:t>
            </a:r>
            <a:endParaRPr b="1" sz="1500"/>
          </a:p>
          <a:p>
            <a:pPr indent="-323850" lvl="1" marL="914400" rtl="0" algn="l">
              <a:spcBef>
                <a:spcPts val="0"/>
              </a:spcBef>
              <a:spcAft>
                <a:spcPts val="0"/>
              </a:spcAft>
              <a:buSzPts val="1500"/>
              <a:buChar char="○"/>
            </a:pPr>
            <a:r>
              <a:rPr lang="en" sz="1500"/>
              <a:t>“That’s $2500 going to the government that needed to be spent at the grocery store.” -The Greatest of All Time </a:t>
            </a:r>
            <a:r>
              <a:rPr b="1" lang="en" sz="1500"/>
              <a:t>Rohit Jhawar</a:t>
            </a:r>
            <a:endParaRPr b="1" sz="1500"/>
          </a:p>
          <a:p>
            <a:pPr indent="-323850" lvl="1" marL="914400" rtl="0" algn="l">
              <a:spcBef>
                <a:spcPts val="0"/>
              </a:spcBef>
              <a:spcAft>
                <a:spcPts val="0"/>
              </a:spcAft>
              <a:buSzPts val="1500"/>
              <a:buChar char="○"/>
            </a:pPr>
            <a:r>
              <a:rPr lang="en" sz="1500"/>
              <a:t>Humanized paying taxes as bad for vulnerable American</a:t>
            </a:r>
            <a:endParaRPr sz="1500"/>
          </a:p>
          <a:p>
            <a:pPr indent="-323850" lvl="0" marL="457200" rtl="0" algn="l">
              <a:spcBef>
                <a:spcPts val="0"/>
              </a:spcBef>
              <a:spcAft>
                <a:spcPts val="0"/>
              </a:spcAft>
              <a:buSzPts val="1500"/>
              <a:buChar char="●"/>
            </a:pPr>
            <a:r>
              <a:rPr lang="en" sz="1500"/>
              <a:t>Never assume that just because something is inherently good or bad, you </a:t>
            </a:r>
            <a:r>
              <a:rPr b="1" lang="en" sz="1500"/>
              <a:t>don’t </a:t>
            </a:r>
            <a:r>
              <a:rPr lang="en" sz="1500"/>
              <a:t>need to explain why</a:t>
            </a:r>
            <a:endParaRPr sz="1500"/>
          </a:p>
          <a:p>
            <a:pPr indent="-323850" lvl="0" marL="457200" rtl="0" algn="l">
              <a:spcBef>
                <a:spcPts val="0"/>
              </a:spcBef>
              <a:spcAft>
                <a:spcPts val="0"/>
              </a:spcAft>
              <a:buSzPts val="1500"/>
              <a:buChar char="●"/>
            </a:pPr>
            <a:r>
              <a:rPr b="1" lang="en" sz="1500"/>
              <a:t>NEVER CUT IMPACTS ALTOGETHER</a:t>
            </a:r>
            <a:endParaRPr b="1" sz="1500"/>
          </a:p>
          <a:p>
            <a:pPr indent="-323850" lvl="0" marL="457200" rtl="0" algn="l">
              <a:spcBef>
                <a:spcPts val="0"/>
              </a:spcBef>
              <a:spcAft>
                <a:spcPts val="0"/>
              </a:spcAft>
              <a:buSzPts val="1500"/>
              <a:buChar char="●"/>
            </a:pPr>
            <a:r>
              <a:rPr lang="en" sz="1500"/>
              <a:t>When writing impacts try to use something that can </a:t>
            </a:r>
            <a:r>
              <a:rPr lang="en" sz="1500"/>
              <a:t>refute other arguments</a:t>
            </a:r>
            <a:endParaRPr sz="1500"/>
          </a:p>
          <a:p>
            <a:pPr indent="-323850" lvl="0" marL="457200" rtl="0" algn="l">
              <a:spcBef>
                <a:spcPts val="0"/>
              </a:spcBef>
              <a:spcAft>
                <a:spcPts val="0"/>
              </a:spcAft>
              <a:buSzPts val="1500"/>
              <a:buChar char="●"/>
            </a:pPr>
            <a:r>
              <a:rPr lang="en" sz="1500"/>
              <a:t>Impacts are where you can get unique</a:t>
            </a:r>
            <a:endParaRPr sz="1500"/>
          </a:p>
          <a:p>
            <a:pPr indent="-323850" lvl="1" marL="914400" rtl="0" algn="l">
              <a:spcBef>
                <a:spcPts val="0"/>
              </a:spcBef>
              <a:spcAft>
                <a:spcPts val="0"/>
              </a:spcAft>
              <a:buSzPts val="1500"/>
              <a:buChar char="○"/>
            </a:pPr>
            <a:r>
              <a:rPr lang="en" sz="1500" u="sng"/>
              <a:t>Unique impact is better than unique argument</a:t>
            </a:r>
            <a:endParaRPr sz="1500" u="sng"/>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0"/>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200"/>
              <a:t>The Status-Quo is not an Impact</a:t>
            </a:r>
            <a:endParaRPr sz="3200"/>
          </a:p>
        </p:txBody>
      </p:sp>
      <p:sp>
        <p:nvSpPr>
          <p:cNvPr id="245" name="Google Shape;245;p30"/>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500"/>
              <a:t>If the card in your impact is just a </a:t>
            </a:r>
            <a:r>
              <a:rPr lang="en" sz="1500"/>
              <a:t>statement</a:t>
            </a:r>
            <a:r>
              <a:rPr lang="en" sz="1500"/>
              <a:t> from the squo, that is not an impact</a:t>
            </a:r>
            <a:endParaRPr sz="1500"/>
          </a:p>
          <a:p>
            <a:pPr indent="-323850" lvl="0" marL="457200" rtl="0" algn="l">
              <a:lnSpc>
                <a:spcPct val="150000"/>
              </a:lnSpc>
              <a:spcBef>
                <a:spcPts val="0"/>
              </a:spcBef>
              <a:spcAft>
                <a:spcPts val="0"/>
              </a:spcAft>
              <a:buSzPts val="1500"/>
              <a:buChar char="●"/>
            </a:pPr>
            <a:r>
              <a:rPr lang="en" sz="1500"/>
              <a:t>High level impacts tend to center around cards that go like:</a:t>
            </a:r>
            <a:endParaRPr sz="1500"/>
          </a:p>
          <a:p>
            <a:pPr indent="-323850" lvl="1" marL="914400" rtl="0" algn="l">
              <a:lnSpc>
                <a:spcPct val="150000"/>
              </a:lnSpc>
              <a:spcBef>
                <a:spcPts val="0"/>
              </a:spcBef>
              <a:spcAft>
                <a:spcPts val="0"/>
              </a:spcAft>
              <a:buSzPts val="1500"/>
              <a:buChar char="○"/>
            </a:pPr>
            <a:r>
              <a:rPr lang="en" sz="1500"/>
              <a:t>Increase of x leads to increase of y</a:t>
            </a:r>
            <a:endParaRPr sz="1500"/>
          </a:p>
          <a:p>
            <a:pPr indent="-323850" lvl="1" marL="914400" rtl="0" algn="l">
              <a:lnSpc>
                <a:spcPct val="150000"/>
              </a:lnSpc>
              <a:spcBef>
                <a:spcPts val="0"/>
              </a:spcBef>
              <a:spcAft>
                <a:spcPts val="0"/>
              </a:spcAft>
              <a:buSzPts val="1500"/>
              <a:buChar char="○"/>
            </a:pPr>
            <a:r>
              <a:rPr lang="en" sz="1500"/>
              <a:t>Good C tax impact</a:t>
            </a:r>
            <a:endParaRPr sz="1500"/>
          </a:p>
          <a:p>
            <a:pPr indent="-323850" lvl="2" marL="1371600" rtl="0" algn="l">
              <a:lnSpc>
                <a:spcPct val="150000"/>
              </a:lnSpc>
              <a:spcBef>
                <a:spcPts val="0"/>
              </a:spcBef>
              <a:spcAft>
                <a:spcPts val="0"/>
              </a:spcAft>
              <a:buSzPts val="1500"/>
              <a:buChar char="■"/>
            </a:pPr>
            <a:r>
              <a:rPr lang="en" sz="1500"/>
              <a:t>Competitive Enterprise Institute June 26, 2023: every energy price hike equivalent to 13 cents leads to  a 2.2% increase in mortality</a:t>
            </a:r>
            <a:endParaRPr sz="1500"/>
          </a:p>
          <a:p>
            <a:pPr indent="-323850" lvl="0" marL="457200" rtl="0" algn="l">
              <a:lnSpc>
                <a:spcPct val="150000"/>
              </a:lnSpc>
              <a:spcBef>
                <a:spcPts val="0"/>
              </a:spcBef>
              <a:spcAft>
                <a:spcPts val="0"/>
              </a:spcAft>
              <a:buSzPts val="1500"/>
              <a:buChar char="●"/>
            </a:pPr>
            <a:r>
              <a:rPr lang="en" sz="1500"/>
              <a:t>This is the most common mistake students make while impacting</a:t>
            </a:r>
            <a:endParaRPr sz="1500"/>
          </a:p>
          <a:p>
            <a:pPr indent="0" lvl="0" marL="457200" rtl="0" algn="l">
              <a:lnSpc>
                <a:spcPct val="150000"/>
              </a:lnSpc>
              <a:spcBef>
                <a:spcPts val="1600"/>
              </a:spcBef>
              <a:spcAft>
                <a:spcPts val="0"/>
              </a:spcAft>
              <a:buNone/>
            </a:pPr>
            <a:r>
              <a:t/>
            </a:r>
            <a:endParaRPr sz="1500"/>
          </a:p>
          <a:p>
            <a:pPr indent="0" lvl="0" marL="914400" rtl="0" algn="l">
              <a:spcBef>
                <a:spcPts val="1600"/>
              </a:spcBef>
              <a:spcAft>
                <a:spcPts val="1600"/>
              </a:spcAft>
              <a:buNone/>
            </a:pPr>
            <a:r>
              <a:t/>
            </a:r>
            <a:endParaRPr sz="15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1"/>
          <p:cNvSpPr txBox="1"/>
          <p:nvPr>
            <p:ph type="title"/>
          </p:nvPr>
        </p:nvSpPr>
        <p:spPr>
          <a:xfrm>
            <a:off x="823850" y="2053000"/>
            <a:ext cx="4587000" cy="1148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200"/>
              <a:t>Redefining the “Best”</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2"/>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6000"/>
              <a:t>Misconceptions</a:t>
            </a:r>
            <a:endParaRPr sz="6000"/>
          </a:p>
        </p:txBody>
      </p:sp>
      <p:sp>
        <p:nvSpPr>
          <p:cNvPr id="256" name="Google Shape;256;p32"/>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lt1"/>
              </a:buClr>
              <a:buSzPts val="1100"/>
              <a:buFont typeface="Arial"/>
              <a:buNone/>
            </a:pPr>
            <a:r>
              <a:rPr lang="en" sz="1800"/>
              <a:t>The best impact is not:</a:t>
            </a:r>
            <a:endParaRPr sz="1800"/>
          </a:p>
          <a:p>
            <a:pPr indent="-323850" lvl="0" marL="457200" rtl="0" algn="l">
              <a:lnSpc>
                <a:spcPct val="150000"/>
              </a:lnSpc>
              <a:spcBef>
                <a:spcPts val="1600"/>
              </a:spcBef>
              <a:spcAft>
                <a:spcPts val="0"/>
              </a:spcAft>
              <a:buSzPts val="1500"/>
              <a:buChar char="●"/>
            </a:pPr>
            <a:r>
              <a:rPr lang="en" sz="1500"/>
              <a:t>What delinks the most args</a:t>
            </a:r>
            <a:endParaRPr sz="1500"/>
          </a:p>
          <a:p>
            <a:pPr indent="-323850" lvl="0" marL="457200" rtl="0" algn="l">
              <a:lnSpc>
                <a:spcPct val="150000"/>
              </a:lnSpc>
              <a:spcBef>
                <a:spcPts val="0"/>
              </a:spcBef>
              <a:spcAft>
                <a:spcPts val="0"/>
              </a:spcAft>
              <a:buSzPts val="1500"/>
              <a:buChar char="●"/>
            </a:pPr>
            <a:r>
              <a:rPr lang="en" sz="1500"/>
              <a:t>The most complicated link chain</a:t>
            </a:r>
            <a:endParaRPr sz="1500"/>
          </a:p>
          <a:p>
            <a:pPr indent="-323850" lvl="0" marL="457200" rtl="0" algn="l">
              <a:lnSpc>
                <a:spcPct val="150000"/>
              </a:lnSpc>
              <a:spcBef>
                <a:spcPts val="0"/>
              </a:spcBef>
              <a:spcAft>
                <a:spcPts val="0"/>
              </a:spcAft>
              <a:buSzPts val="1500"/>
              <a:buChar char="●"/>
            </a:pPr>
            <a:r>
              <a:rPr lang="en" sz="1500"/>
              <a:t>The biggest statistic</a:t>
            </a:r>
            <a:endParaRPr sz="1500"/>
          </a:p>
          <a:p>
            <a:pPr indent="-323850" lvl="0" marL="457200" rtl="0" algn="l">
              <a:lnSpc>
                <a:spcPct val="150000"/>
              </a:lnSpc>
              <a:spcBef>
                <a:spcPts val="0"/>
              </a:spcBef>
              <a:spcAft>
                <a:spcPts val="0"/>
              </a:spcAft>
              <a:buSzPts val="1500"/>
              <a:buChar char="●"/>
            </a:pPr>
            <a:r>
              <a:rPr lang="en" sz="1500"/>
              <a:t>The most graphic rhetoric</a:t>
            </a:r>
            <a:endParaRPr sz="1500"/>
          </a:p>
          <a:p>
            <a:pPr indent="-323850" lvl="0" marL="457200" rtl="0" algn="l">
              <a:lnSpc>
                <a:spcPct val="150000"/>
              </a:lnSpc>
              <a:spcBef>
                <a:spcPts val="0"/>
              </a:spcBef>
              <a:spcAft>
                <a:spcPts val="0"/>
              </a:spcAft>
              <a:buSzPts val="1500"/>
              <a:buChar char="●"/>
            </a:pPr>
            <a:r>
              <a:rPr lang="en" sz="1500"/>
              <a:t>Nuclear war</a:t>
            </a:r>
            <a:endParaRPr sz="1500"/>
          </a:p>
          <a:p>
            <a:pPr indent="0" lvl="0" marL="0" rtl="0" algn="l">
              <a:spcBef>
                <a:spcPts val="1600"/>
              </a:spcBef>
              <a:spcAft>
                <a:spcPts val="0"/>
              </a:spcAft>
              <a:buClr>
                <a:schemeClr val="lt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3"/>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900"/>
              <a:t>The Winning Impacts</a:t>
            </a:r>
            <a:endParaRPr sz="4900"/>
          </a:p>
        </p:txBody>
      </p:sp>
      <p:sp>
        <p:nvSpPr>
          <p:cNvPr id="262" name="Google Shape;262;p33"/>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t>The best impact is:</a:t>
            </a:r>
            <a:endParaRPr sz="1800"/>
          </a:p>
          <a:p>
            <a:pPr indent="-323850" lvl="0" marL="457200" rtl="0" algn="l">
              <a:lnSpc>
                <a:spcPct val="150000"/>
              </a:lnSpc>
              <a:spcBef>
                <a:spcPts val="1600"/>
              </a:spcBef>
              <a:spcAft>
                <a:spcPts val="0"/>
              </a:spcAft>
              <a:buSzPts val="1500"/>
              <a:buChar char="●"/>
            </a:pPr>
            <a:r>
              <a:rPr lang="en" sz="1500"/>
              <a:t>What judges think is most likely</a:t>
            </a:r>
            <a:endParaRPr sz="1500"/>
          </a:p>
          <a:p>
            <a:pPr indent="-323850" lvl="0" marL="457200" rtl="0" algn="l">
              <a:lnSpc>
                <a:spcPct val="150000"/>
              </a:lnSpc>
              <a:spcBef>
                <a:spcPts val="0"/>
              </a:spcBef>
              <a:spcAft>
                <a:spcPts val="0"/>
              </a:spcAft>
              <a:buSzPts val="1500"/>
              <a:buChar char="●"/>
            </a:pPr>
            <a:r>
              <a:rPr lang="en" sz="1500"/>
              <a:t>What is most logically sound</a:t>
            </a:r>
            <a:endParaRPr sz="1500"/>
          </a:p>
          <a:p>
            <a:pPr indent="-323850" lvl="0" marL="457200" rtl="0" algn="l">
              <a:lnSpc>
                <a:spcPct val="150000"/>
              </a:lnSpc>
              <a:spcBef>
                <a:spcPts val="0"/>
              </a:spcBef>
              <a:spcAft>
                <a:spcPts val="0"/>
              </a:spcAft>
              <a:buSzPts val="1500"/>
              <a:buChar char="●"/>
            </a:pPr>
            <a:r>
              <a:rPr lang="en" sz="1500"/>
              <a:t>What affects judges the most</a:t>
            </a:r>
            <a:endParaRPr sz="1500"/>
          </a:p>
          <a:p>
            <a:pPr indent="-323850" lvl="0" marL="457200" rtl="0" algn="l">
              <a:lnSpc>
                <a:spcPct val="150000"/>
              </a:lnSpc>
              <a:spcBef>
                <a:spcPts val="0"/>
              </a:spcBef>
              <a:spcAft>
                <a:spcPts val="0"/>
              </a:spcAft>
              <a:buSzPts val="1500"/>
              <a:buChar char="●"/>
            </a:pPr>
            <a:r>
              <a:rPr lang="en" sz="1500"/>
              <a:t>What they understand the clearest</a:t>
            </a:r>
            <a:endParaRPr sz="1500"/>
          </a:p>
          <a:p>
            <a:pPr indent="0" lvl="0" marL="0" rtl="0" algn="l">
              <a:lnSpc>
                <a:spcPct val="150000"/>
              </a:lnSpc>
              <a:spcBef>
                <a:spcPts val="1600"/>
              </a:spcBef>
              <a:spcAft>
                <a:spcPts val="0"/>
              </a:spcAft>
              <a:buNone/>
            </a:pPr>
            <a:r>
              <a:rPr lang="en" sz="1500"/>
              <a:t>At the end of the day the judge </a:t>
            </a:r>
            <a:r>
              <a:rPr lang="en" sz="1500"/>
              <a:t>determines</a:t>
            </a:r>
            <a:r>
              <a:rPr lang="en" sz="1500"/>
              <a:t> who wins</a:t>
            </a:r>
            <a:endParaRPr sz="15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900"/>
              <a:t>Biggest Takeaways</a:t>
            </a:r>
            <a:endParaRPr sz="4900"/>
          </a:p>
        </p:txBody>
      </p:sp>
      <p:sp>
        <p:nvSpPr>
          <p:cNvPr id="268" name="Google Shape;268;p34"/>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23850" lvl="0" marL="457200" rtl="0" algn="l">
              <a:lnSpc>
                <a:spcPct val="150000"/>
              </a:lnSpc>
              <a:spcBef>
                <a:spcPts val="0"/>
              </a:spcBef>
              <a:spcAft>
                <a:spcPts val="0"/>
              </a:spcAft>
              <a:buSzPts val="1500"/>
              <a:buChar char="●"/>
            </a:pPr>
            <a:r>
              <a:rPr lang="en" sz="1800"/>
              <a:t>Judges roleplay as the </a:t>
            </a:r>
            <a:r>
              <a:rPr lang="en" sz="1800"/>
              <a:t>constituents</a:t>
            </a:r>
            <a:r>
              <a:rPr lang="en" sz="1800"/>
              <a:t> </a:t>
            </a:r>
            <a:endParaRPr sz="1800"/>
          </a:p>
          <a:p>
            <a:pPr indent="-342900" lvl="0" marL="457200" rtl="0" algn="l">
              <a:lnSpc>
                <a:spcPct val="150000"/>
              </a:lnSpc>
              <a:spcBef>
                <a:spcPts val="0"/>
              </a:spcBef>
              <a:spcAft>
                <a:spcPts val="0"/>
              </a:spcAft>
              <a:buSzPts val="1800"/>
              <a:buChar char="●"/>
            </a:pPr>
            <a:r>
              <a:rPr lang="en" sz="1800"/>
              <a:t>Judges </a:t>
            </a:r>
            <a:r>
              <a:rPr b="1" lang="en" sz="1800"/>
              <a:t>implicitly</a:t>
            </a:r>
            <a:r>
              <a:rPr lang="en" sz="1800"/>
              <a:t> weigh</a:t>
            </a:r>
            <a:endParaRPr sz="1800"/>
          </a:p>
          <a:p>
            <a:pPr indent="-342900" lvl="0" marL="457200" rtl="0" algn="l">
              <a:lnSpc>
                <a:spcPct val="150000"/>
              </a:lnSpc>
              <a:spcBef>
                <a:spcPts val="0"/>
              </a:spcBef>
              <a:spcAft>
                <a:spcPts val="0"/>
              </a:spcAft>
              <a:buSzPts val="1800"/>
              <a:buChar char="●"/>
            </a:pPr>
            <a:r>
              <a:rPr lang="en" sz="1800"/>
              <a:t>The “flow” in Congress is based on how judges feel about arguments</a:t>
            </a:r>
            <a:endParaRPr sz="1800"/>
          </a:p>
          <a:p>
            <a:pPr indent="-342900" lvl="0" marL="457200" rtl="0" algn="l">
              <a:lnSpc>
                <a:spcPct val="150000"/>
              </a:lnSpc>
              <a:spcBef>
                <a:spcPts val="0"/>
              </a:spcBef>
              <a:spcAft>
                <a:spcPts val="0"/>
              </a:spcAft>
              <a:buSzPts val="1800"/>
              <a:buChar char="●"/>
            </a:pPr>
            <a:r>
              <a:rPr lang="en" sz="1800"/>
              <a:t>The flow reflects impacts</a:t>
            </a:r>
            <a:endParaRPr sz="1800"/>
          </a:p>
          <a:p>
            <a:pPr indent="-342900" lvl="0" marL="457200" rtl="0" algn="l">
              <a:lnSpc>
                <a:spcPct val="150000"/>
              </a:lnSpc>
              <a:spcBef>
                <a:spcPts val="0"/>
              </a:spcBef>
              <a:spcAft>
                <a:spcPts val="0"/>
              </a:spcAft>
              <a:buSzPts val="1800"/>
              <a:buChar char="●"/>
            </a:pPr>
            <a:r>
              <a:rPr lang="en" sz="1800"/>
              <a:t>The argument judges care most about almost always wins</a:t>
            </a:r>
            <a:endParaRPr sz="1800"/>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5"/>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to Avoid</a:t>
            </a:r>
            <a:endParaRPr/>
          </a:p>
        </p:txBody>
      </p:sp>
      <p:sp>
        <p:nvSpPr>
          <p:cNvPr id="274" name="Google Shape;274;p35"/>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355600" lvl="0" marL="457200" rtl="0" algn="l">
              <a:lnSpc>
                <a:spcPct val="150000"/>
              </a:lnSpc>
              <a:spcBef>
                <a:spcPts val="0"/>
              </a:spcBef>
              <a:spcAft>
                <a:spcPts val="0"/>
              </a:spcAft>
              <a:buClr>
                <a:srgbClr val="263238"/>
              </a:buClr>
              <a:buSzPts val="2000"/>
              <a:buFont typeface="Lato"/>
              <a:buAutoNum type="arabicPeriod"/>
            </a:pPr>
            <a:r>
              <a:rPr lang="en" sz="2000"/>
              <a:t>SQUO as an impact</a:t>
            </a:r>
            <a:endParaRPr sz="2000"/>
          </a:p>
          <a:p>
            <a:pPr indent="-355600" lvl="0" marL="457200" rtl="0" algn="l">
              <a:lnSpc>
                <a:spcPct val="150000"/>
              </a:lnSpc>
              <a:spcBef>
                <a:spcPts val="0"/>
              </a:spcBef>
              <a:spcAft>
                <a:spcPts val="0"/>
              </a:spcAft>
              <a:buClr>
                <a:schemeClr val="lt1"/>
              </a:buClr>
              <a:buSzPts val="2000"/>
              <a:buFont typeface="Lato"/>
              <a:buAutoNum type="arabicPeriod"/>
            </a:pPr>
            <a:r>
              <a:rPr lang="en" sz="2000"/>
              <a:t>Impact without evidence</a:t>
            </a:r>
            <a:endParaRPr sz="2000"/>
          </a:p>
          <a:p>
            <a:pPr indent="-355600" lvl="0" marL="457200" rtl="0" algn="l">
              <a:lnSpc>
                <a:spcPct val="150000"/>
              </a:lnSpc>
              <a:spcBef>
                <a:spcPts val="0"/>
              </a:spcBef>
              <a:spcAft>
                <a:spcPts val="0"/>
              </a:spcAft>
              <a:buClr>
                <a:schemeClr val="lt1"/>
              </a:buClr>
              <a:buSzPts val="2000"/>
              <a:buFont typeface="Lato"/>
              <a:buAutoNum type="arabicPeriod"/>
            </a:pPr>
            <a:r>
              <a:rPr lang="en" sz="2000"/>
              <a:t>Cutting impacts out of speech</a:t>
            </a:r>
            <a:endParaRPr sz="2000"/>
          </a:p>
          <a:p>
            <a:pPr indent="-355600" lvl="0" marL="457200" rtl="0" algn="l">
              <a:lnSpc>
                <a:spcPct val="150000"/>
              </a:lnSpc>
              <a:spcBef>
                <a:spcPts val="0"/>
              </a:spcBef>
              <a:spcAft>
                <a:spcPts val="0"/>
              </a:spcAft>
              <a:buClr>
                <a:schemeClr val="lt1"/>
              </a:buClr>
              <a:buSzPts val="2000"/>
              <a:buFont typeface="Lato"/>
              <a:buAutoNum type="arabicPeriod"/>
            </a:pPr>
            <a:r>
              <a:rPr lang="en" sz="2000"/>
              <a:t>Impacts that are un-relatable to the average judge</a:t>
            </a:r>
            <a:endParaRPr sz="2000"/>
          </a:p>
          <a:p>
            <a:pPr indent="0" lvl="0" marL="0" rtl="0" algn="l">
              <a:spcBef>
                <a:spcPts val="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6"/>
          <p:cNvSpPr txBox="1"/>
          <p:nvPr>
            <p:ph type="title"/>
          </p:nvPr>
        </p:nvSpPr>
        <p:spPr>
          <a:xfrm>
            <a:off x="1297500" y="393750"/>
            <a:ext cx="7038900" cy="91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a:t>
            </a:r>
            <a:endParaRPr/>
          </a:p>
        </p:txBody>
      </p:sp>
      <p:sp>
        <p:nvSpPr>
          <p:cNvPr id="280" name="Google Shape;280;p36"/>
          <p:cNvSpPr txBox="1"/>
          <p:nvPr>
            <p:ph idx="1" type="body"/>
          </p:nvPr>
        </p:nvSpPr>
        <p:spPr>
          <a:xfrm>
            <a:off x="1297500" y="1567550"/>
            <a:ext cx="7038900" cy="2911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lt1"/>
              </a:buClr>
              <a:buSzPts val="1100"/>
              <a:buFont typeface="Arial"/>
              <a:buNone/>
            </a:pPr>
            <a:r>
              <a:rPr b="1" lang="en" sz="1600" u="sng">
                <a:solidFill>
                  <a:srgbClr val="FF0000"/>
                </a:solidFill>
                <a:latin typeface="Calibri"/>
                <a:ea typeface="Calibri"/>
                <a:cs typeface="Calibri"/>
                <a:sym typeface="Calibri"/>
              </a:rPr>
              <a:t>A paycheck is worth more than just a dollar sign.</a:t>
            </a:r>
            <a:endParaRPr b="1" sz="1600" u="sng">
              <a:solidFill>
                <a:srgbClr val="FF0000"/>
              </a:solidFill>
              <a:latin typeface="Calibri"/>
              <a:ea typeface="Calibri"/>
              <a:cs typeface="Calibri"/>
              <a:sym typeface="Calibri"/>
            </a:endParaRPr>
          </a:p>
          <a:p>
            <a:pPr indent="-330200" lvl="0" marL="457200" rtl="0" algn="l">
              <a:lnSpc>
                <a:spcPct val="150000"/>
              </a:lnSpc>
              <a:spcBef>
                <a:spcPts val="0"/>
              </a:spcBef>
              <a:spcAft>
                <a:spcPts val="0"/>
              </a:spcAft>
              <a:buClr>
                <a:schemeClr val="lt1"/>
              </a:buClr>
              <a:buSzPts val="1600"/>
              <a:buFont typeface="Calibri"/>
              <a:buChar char="●"/>
            </a:pPr>
            <a:r>
              <a:rPr lang="en" sz="1600" u="sng">
                <a:solidFill>
                  <a:srgbClr val="FF0000"/>
                </a:solidFill>
                <a:highlight>
                  <a:schemeClr val="accent4"/>
                </a:highlight>
                <a:latin typeface="Calibri"/>
                <a:ea typeface="Calibri"/>
                <a:cs typeface="Calibri"/>
                <a:sym typeface="Calibri"/>
              </a:rPr>
              <a:t>Krista Ruffini, economist at the Minnesota Federal Reserve found through a meta-study on June 18th of 2020</a:t>
            </a:r>
            <a:r>
              <a:rPr lang="en" sz="1600">
                <a:highlight>
                  <a:schemeClr val="accent4"/>
                </a:highlight>
                <a:latin typeface="Calibri"/>
                <a:ea typeface="Calibri"/>
                <a:cs typeface="Calibri"/>
                <a:sym typeface="Calibri"/>
              </a:rPr>
              <a:t> A $15 minimum wage could save 15,000 workers from losing their lives every year. </a:t>
            </a:r>
            <a:endParaRPr sz="1600">
              <a:highlight>
                <a:schemeClr val="accent4"/>
              </a:highlight>
              <a:latin typeface="Calibri"/>
              <a:ea typeface="Calibri"/>
              <a:cs typeface="Calibri"/>
              <a:sym typeface="Calibri"/>
            </a:endParaRPr>
          </a:p>
          <a:p>
            <a:pPr indent="0" lvl="0" marL="0" rtl="0" algn="l">
              <a:lnSpc>
                <a:spcPct val="150000"/>
              </a:lnSpc>
              <a:spcBef>
                <a:spcPts val="0"/>
              </a:spcBef>
              <a:spcAft>
                <a:spcPts val="0"/>
              </a:spcAft>
              <a:buClr>
                <a:schemeClr val="lt1"/>
              </a:buClr>
              <a:buSzPts val="1100"/>
              <a:buFont typeface="Arial"/>
              <a:buNone/>
            </a:pPr>
            <a:r>
              <a:rPr lang="en" sz="1600">
                <a:highlight>
                  <a:schemeClr val="accent4"/>
                </a:highlight>
                <a:latin typeface="Calibri"/>
                <a:ea typeface="Calibri"/>
                <a:cs typeface="Calibri"/>
                <a:sym typeface="Calibri"/>
              </a:rPr>
              <a:t>That’s what paychecks do. For a patient facing diabetes, it pays for their insulin and checkups. For the single parent in debt, it pays for their child's food and education. For any American, it pays for their electricity bills during sub-zero winter.  I don’t care if $15 means nothing to a corporation if it means everything to a family. </a:t>
            </a:r>
            <a:endParaRPr sz="1600">
              <a:latin typeface="Calibri"/>
              <a:ea typeface="Calibri"/>
              <a:cs typeface="Calibri"/>
              <a:sym typeface="Calibri"/>
            </a:endParaRPr>
          </a:p>
          <a:p>
            <a:pPr indent="0" lvl="0" marL="0" rtl="0" algn="l">
              <a:lnSpc>
                <a:spcPct val="100000"/>
              </a:lnSpc>
              <a:spcBef>
                <a:spcPts val="0"/>
              </a:spcBef>
              <a:spcAft>
                <a:spcPts val="0"/>
              </a:spcAft>
              <a:buClr>
                <a:schemeClr val="lt1"/>
              </a:buClr>
              <a:buSzPts val="1100"/>
              <a:buFont typeface="Arial"/>
              <a:buNone/>
            </a:pPr>
            <a:r>
              <a:t/>
            </a:r>
            <a:endParaRPr sz="1600">
              <a:solidFill>
                <a:srgbClr val="263238"/>
              </a:solidFill>
              <a:latin typeface="Raleway"/>
              <a:ea typeface="Raleway"/>
              <a:cs typeface="Raleway"/>
              <a:sym typeface="Raleway"/>
            </a:endParaRPr>
          </a:p>
          <a:p>
            <a:pPr indent="0" lvl="0" marL="0" rtl="0" algn="l">
              <a:spcBef>
                <a:spcPts val="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Ascend Format">
  <a:themeElements>
    <a:clrScheme name="Focus">
      <a:dk1>
        <a:srgbClr val="1B212C"/>
      </a:dk1>
      <a:lt1>
        <a:srgbClr val="000000"/>
      </a:lt1>
      <a:dk2>
        <a:srgbClr val="D9D9D9"/>
      </a:dk2>
      <a:lt2>
        <a:srgbClr val="AD3033"/>
      </a:lt2>
      <a:accent1>
        <a:srgbClr val="000000"/>
      </a:accent1>
      <a:accent2>
        <a:srgbClr val="000000"/>
      </a:accent2>
      <a:accent3>
        <a:srgbClr val="AD3033"/>
      </a:accent3>
      <a:accent4>
        <a:srgbClr val="FFFFFF"/>
      </a:accent4>
      <a:accent5>
        <a:srgbClr val="999999"/>
      </a:accent5>
      <a:accent6>
        <a:srgbClr val="CCCCCC"/>
      </a:accent6>
      <a:hlink>
        <a:srgbClr val="AD3033"/>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