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Montserrat"/>
      <p:regular r:id="rId28"/>
      <p:bold r:id="rId29"/>
      <p:italic r:id="rId30"/>
      <p:boldItalic r:id="rId31"/>
    </p:embeddedFont>
    <p:embeddedFont>
      <p:font typeface="La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Montserrat-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Italic.fntdata"/><Relationship Id="rId30" Type="http://schemas.openxmlformats.org/officeDocument/2006/relationships/font" Target="fonts/Montserrat-italic.fntdata"/><Relationship Id="rId11" Type="http://schemas.openxmlformats.org/officeDocument/2006/relationships/slide" Target="slides/slide6.xml"/><Relationship Id="rId33" Type="http://schemas.openxmlformats.org/officeDocument/2006/relationships/font" Target="fonts/Lato-bold.fntdata"/><Relationship Id="rId10" Type="http://schemas.openxmlformats.org/officeDocument/2006/relationships/slide" Target="slides/slide5.xml"/><Relationship Id="rId32" Type="http://schemas.openxmlformats.org/officeDocument/2006/relationships/font" Target="fonts/Lato-regular.fntdata"/><Relationship Id="rId13" Type="http://schemas.openxmlformats.org/officeDocument/2006/relationships/slide" Target="slides/slide8.xml"/><Relationship Id="rId35" Type="http://schemas.openxmlformats.org/officeDocument/2006/relationships/font" Target="fonts/Lato-boldItalic.fntdata"/><Relationship Id="rId12" Type="http://schemas.openxmlformats.org/officeDocument/2006/relationships/slide" Target="slides/slide7.xml"/><Relationship Id="rId34" Type="http://schemas.openxmlformats.org/officeDocument/2006/relationships/font" Target="fonts/Lat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80a66b1d64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80a66b1d64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ebe6197345_1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ebe6197345_1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ebe6197345_1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ebe6197345_1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ebe6197345_1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ebe6197345_1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ebe6197345_1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ebe6197345_1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ec1ca692a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ec1ca692a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ec1ca692a6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ec1ca692a6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b2e481d4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b2e481d4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76bdda4de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76bdda4de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ebe6197345_1_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ebe6197345_1_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76bdda4de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76bdda4de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ea8d43978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ea8d43978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ebe6197345_1_8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ebe6197345_1_8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ea8d43978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ea8d43978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ebe6197345_1_9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ebe6197345_1_9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76bdda4de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76bdda4de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ebe619734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ebe619734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ea8d43978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ea8d43978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ea8d43978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ea8d43978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Rohit Jhawar Example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ebe6197345_1_10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ebe6197345_1_10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67b6255b9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67b6255b9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8" name="Google Shape;18;p2"/>
          <p:cNvPicPr preferRelativeResize="0"/>
          <p:nvPr/>
        </p:nvPicPr>
        <p:blipFill rotWithShape="1">
          <a:blip r:embed="rId2">
            <a:alphaModFix/>
          </a:blip>
          <a:srcRect b="39581" l="0" r="0" t="0"/>
          <a:stretch/>
        </p:blipFill>
        <p:spPr>
          <a:xfrm>
            <a:off x="0" y="4536775"/>
            <a:ext cx="1382950" cy="606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41" name="Google Shape;41;p3"/>
          <p:cNvPicPr preferRelativeResize="0"/>
          <p:nvPr/>
        </p:nvPicPr>
        <p:blipFill rotWithShape="1">
          <a:blip r:embed="rId2">
            <a:alphaModFix/>
          </a:blip>
          <a:srcRect b="39581" l="0" r="0" t="0"/>
          <a:stretch/>
        </p:blipFill>
        <p:spPr>
          <a:xfrm>
            <a:off x="0" y="4536775"/>
            <a:ext cx="1382950" cy="6067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2" name="Shape 42"/>
        <p:cNvGrpSpPr/>
        <p:nvPr/>
      </p:nvGrpSpPr>
      <p:grpSpPr>
        <a:xfrm>
          <a:off x="0" y="0"/>
          <a:ext cx="0" cy="0"/>
          <a:chOff x="0" y="0"/>
          <a:chExt cx="0" cy="0"/>
        </a:xfrm>
      </p:grpSpPr>
      <p:grpSp>
        <p:nvGrpSpPr>
          <p:cNvPr id="43" name="Google Shape;43;p4"/>
          <p:cNvGrpSpPr/>
          <p:nvPr/>
        </p:nvGrpSpPr>
        <p:grpSpPr>
          <a:xfrm>
            <a:off x="0" y="381001"/>
            <a:ext cx="1037850" cy="1016287"/>
            <a:chOff x="0" y="381001"/>
            <a:chExt cx="1037850" cy="1016287"/>
          </a:xfrm>
        </p:grpSpPr>
        <p:sp>
          <p:nvSpPr>
            <p:cNvPr id="44" name="Google Shape;44;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8" name="Google Shape;48;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49" name="Google Shape;49;p4"/>
          <p:cNvPicPr preferRelativeResize="0"/>
          <p:nvPr/>
        </p:nvPicPr>
        <p:blipFill rotWithShape="1">
          <a:blip r:embed="rId2">
            <a:alphaModFix/>
          </a:blip>
          <a:srcRect b="39581" l="0" r="0" t="0"/>
          <a:stretch/>
        </p:blipFill>
        <p:spPr>
          <a:xfrm>
            <a:off x="0" y="4536775"/>
            <a:ext cx="1382950" cy="6067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0" name="Shape 50"/>
        <p:cNvGrpSpPr/>
        <p:nvPr/>
      </p:nvGrpSpPr>
      <p:grpSpPr>
        <a:xfrm>
          <a:off x="0" y="0"/>
          <a:ext cx="0" cy="0"/>
          <a:chOff x="0" y="0"/>
          <a:chExt cx="0" cy="0"/>
        </a:xfrm>
      </p:grpSpPr>
      <p:grpSp>
        <p:nvGrpSpPr>
          <p:cNvPr id="51" name="Google Shape;51;p5"/>
          <p:cNvGrpSpPr/>
          <p:nvPr/>
        </p:nvGrpSpPr>
        <p:grpSpPr>
          <a:xfrm>
            <a:off x="0" y="381001"/>
            <a:ext cx="1037850" cy="1016287"/>
            <a:chOff x="0" y="381001"/>
            <a:chExt cx="1037850" cy="1016287"/>
          </a:xfrm>
        </p:grpSpPr>
        <p:sp>
          <p:nvSpPr>
            <p:cNvPr id="52" name="Google Shape;52;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 name="Google Shape;54;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56" name="Google Shape;56;p5"/>
          <p:cNvPicPr preferRelativeResize="0"/>
          <p:nvPr/>
        </p:nvPicPr>
        <p:blipFill rotWithShape="1">
          <a:blip r:embed="rId2">
            <a:alphaModFix/>
          </a:blip>
          <a:srcRect b="39581" l="0" r="0" t="0"/>
          <a:stretch/>
        </p:blipFill>
        <p:spPr>
          <a:xfrm>
            <a:off x="0" y="4536775"/>
            <a:ext cx="1382950" cy="606725"/>
          </a:xfrm>
          <a:prstGeom prst="rect">
            <a:avLst/>
          </a:prstGeom>
          <a:noFill/>
          <a:ln>
            <a:noFill/>
          </a:ln>
        </p:spPr>
      </p:pic>
      <p:sp>
        <p:nvSpPr>
          <p:cNvPr id="57" name="Google Shape;57;p5"/>
          <p:cNvSpPr txBox="1"/>
          <p:nvPr>
            <p:ph idx="1" type="body"/>
          </p:nvPr>
        </p:nvSpPr>
        <p:spPr>
          <a:xfrm>
            <a:off x="4933196" y="1625575"/>
            <a:ext cx="3403200" cy="2911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58" name="Google Shape;58;p5"/>
          <p:cNvSpPr txBox="1"/>
          <p:nvPr>
            <p:ph idx="2" type="body"/>
          </p:nvPr>
        </p:nvSpPr>
        <p:spPr>
          <a:xfrm>
            <a:off x="1382946" y="1686750"/>
            <a:ext cx="3403200" cy="2911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grpSp>
        <p:nvGrpSpPr>
          <p:cNvPr id="60" name="Google Shape;60;p6"/>
          <p:cNvGrpSpPr/>
          <p:nvPr/>
        </p:nvGrpSpPr>
        <p:grpSpPr>
          <a:xfrm>
            <a:off x="0" y="381001"/>
            <a:ext cx="1037850" cy="1016287"/>
            <a:chOff x="0" y="381001"/>
            <a:chExt cx="1037850" cy="1016287"/>
          </a:xfrm>
        </p:grpSpPr>
        <p:sp>
          <p:nvSpPr>
            <p:cNvPr id="61" name="Google Shape;61;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4" name="Google Shape;64;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65" name="Google Shape;65;p6"/>
          <p:cNvPicPr preferRelativeResize="0"/>
          <p:nvPr/>
        </p:nvPicPr>
        <p:blipFill rotWithShape="1">
          <a:blip r:embed="rId2">
            <a:alphaModFix/>
          </a:blip>
          <a:srcRect b="39581" l="0" r="0" t="0"/>
          <a:stretch/>
        </p:blipFill>
        <p:spPr>
          <a:xfrm>
            <a:off x="0" y="4536775"/>
            <a:ext cx="1382950" cy="6067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6" name="Shape 66"/>
        <p:cNvGrpSpPr/>
        <p:nvPr/>
      </p:nvGrpSpPr>
      <p:grpSpPr>
        <a:xfrm>
          <a:off x="0" y="0"/>
          <a:ext cx="0" cy="0"/>
          <a:chOff x="0" y="0"/>
          <a:chExt cx="0" cy="0"/>
        </a:xfrm>
      </p:grpSpPr>
      <p:grpSp>
        <p:nvGrpSpPr>
          <p:cNvPr id="67" name="Google Shape;67;p7"/>
          <p:cNvGrpSpPr/>
          <p:nvPr/>
        </p:nvGrpSpPr>
        <p:grpSpPr>
          <a:xfrm>
            <a:off x="0" y="381001"/>
            <a:ext cx="1037850" cy="1016287"/>
            <a:chOff x="0" y="381001"/>
            <a:chExt cx="1037850" cy="1016287"/>
          </a:xfrm>
        </p:grpSpPr>
        <p:sp>
          <p:nvSpPr>
            <p:cNvPr id="68" name="Google Shape;68;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 name="Google Shape;70;p7"/>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1" name="Google Shape;71;p7"/>
          <p:cNvSpPr txBox="1"/>
          <p:nvPr>
            <p:ph idx="1" type="body"/>
          </p:nvPr>
        </p:nvSpPr>
        <p:spPr>
          <a:xfrm>
            <a:off x="1297500" y="136380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72" name="Google Shape;7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73" name="Google Shape;73;p7"/>
          <p:cNvPicPr preferRelativeResize="0"/>
          <p:nvPr/>
        </p:nvPicPr>
        <p:blipFill rotWithShape="1">
          <a:blip r:embed="rId2">
            <a:alphaModFix/>
          </a:blip>
          <a:srcRect b="39581" l="0" r="0" t="0"/>
          <a:stretch/>
        </p:blipFill>
        <p:spPr>
          <a:xfrm>
            <a:off x="0" y="4536775"/>
            <a:ext cx="1382950" cy="6067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4" name="Shape 74"/>
        <p:cNvGrpSpPr/>
        <p:nvPr/>
      </p:nvGrpSpPr>
      <p:grpSpPr>
        <a:xfrm>
          <a:off x="0" y="0"/>
          <a:ext cx="0" cy="0"/>
          <a:chOff x="0" y="0"/>
          <a:chExt cx="0" cy="0"/>
        </a:xfrm>
      </p:grpSpPr>
      <p:grpSp>
        <p:nvGrpSpPr>
          <p:cNvPr id="75" name="Google Shape;75;p8"/>
          <p:cNvGrpSpPr/>
          <p:nvPr/>
        </p:nvGrpSpPr>
        <p:grpSpPr>
          <a:xfrm>
            <a:off x="4406400" y="0"/>
            <a:ext cx="4737600" cy="5143500"/>
            <a:chOff x="4406400" y="0"/>
            <a:chExt cx="4737600" cy="5143500"/>
          </a:xfrm>
        </p:grpSpPr>
        <p:sp>
          <p:nvSpPr>
            <p:cNvPr id="76" name="Google Shape;76;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 name="Google Shape;94;p8"/>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 name="Google Shape;9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96" name="Google Shape;96;p8"/>
          <p:cNvPicPr preferRelativeResize="0"/>
          <p:nvPr/>
        </p:nvPicPr>
        <p:blipFill rotWithShape="1">
          <a:blip r:embed="rId2">
            <a:alphaModFix/>
          </a:blip>
          <a:srcRect b="39581" l="0" r="0" t="0"/>
          <a:stretch/>
        </p:blipFill>
        <p:spPr>
          <a:xfrm>
            <a:off x="0" y="4536775"/>
            <a:ext cx="1382950" cy="60672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7" name="Shape 97"/>
        <p:cNvGrpSpPr/>
        <p:nvPr/>
      </p:nvGrpSpPr>
      <p:grpSpPr>
        <a:xfrm>
          <a:off x="0" y="0"/>
          <a:ext cx="0" cy="0"/>
          <a:chOff x="0" y="0"/>
          <a:chExt cx="0" cy="0"/>
        </a:xfrm>
      </p:grpSpPr>
      <p:grpSp>
        <p:nvGrpSpPr>
          <p:cNvPr id="98" name="Google Shape;98;p9"/>
          <p:cNvGrpSpPr/>
          <p:nvPr/>
        </p:nvGrpSpPr>
        <p:grpSpPr>
          <a:xfrm>
            <a:off x="0" y="381001"/>
            <a:ext cx="1037850" cy="1016287"/>
            <a:chOff x="0" y="381001"/>
            <a:chExt cx="1037850" cy="1016287"/>
          </a:xfrm>
        </p:grpSpPr>
        <p:sp>
          <p:nvSpPr>
            <p:cNvPr id="99" name="Google Shape;99;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 name="Google Shape;101;p9"/>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2" name="Google Shape;102;p9"/>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03" name="Google Shape;103;p9"/>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04" name="Google Shape;104;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05" name="Google Shape;105;p9"/>
          <p:cNvPicPr preferRelativeResize="0"/>
          <p:nvPr/>
        </p:nvPicPr>
        <p:blipFill rotWithShape="1">
          <a:blip r:embed="rId2">
            <a:alphaModFix/>
          </a:blip>
          <a:srcRect b="39581" l="0" r="0" t="0"/>
          <a:stretch/>
        </p:blipFill>
        <p:spPr>
          <a:xfrm>
            <a:off x="0" y="4536775"/>
            <a:ext cx="1382950" cy="60672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6" name="Shape 106"/>
        <p:cNvGrpSpPr/>
        <p:nvPr/>
      </p:nvGrpSpPr>
      <p:grpSpPr>
        <a:xfrm>
          <a:off x="0" y="0"/>
          <a:ext cx="0" cy="0"/>
          <a:chOff x="0" y="0"/>
          <a:chExt cx="0" cy="0"/>
        </a:xfrm>
      </p:grpSpPr>
      <p:grpSp>
        <p:nvGrpSpPr>
          <p:cNvPr id="107" name="Google Shape;107;p10"/>
          <p:cNvGrpSpPr/>
          <p:nvPr/>
        </p:nvGrpSpPr>
        <p:grpSpPr>
          <a:xfrm>
            <a:off x="40600" y="3640247"/>
            <a:ext cx="698925" cy="684657"/>
            <a:chOff x="0" y="3785672"/>
            <a:chExt cx="698925" cy="684657"/>
          </a:xfrm>
        </p:grpSpPr>
        <p:sp>
          <p:nvSpPr>
            <p:cNvPr id="108" name="Google Shape;108;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10"/>
          <p:cNvSpPr txBox="1"/>
          <p:nvPr>
            <p:ph idx="1" type="body"/>
          </p:nvPr>
        </p:nvSpPr>
        <p:spPr>
          <a:xfrm>
            <a:off x="804625" y="3801100"/>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pic>
        <p:nvPicPr>
          <p:cNvPr id="111" name="Google Shape;111;p10"/>
          <p:cNvPicPr preferRelativeResize="0"/>
          <p:nvPr/>
        </p:nvPicPr>
        <p:blipFill rotWithShape="1">
          <a:blip r:embed="rId2">
            <a:alphaModFix/>
          </a:blip>
          <a:srcRect b="39581" l="0" r="0" t="0"/>
          <a:stretch/>
        </p:blipFill>
        <p:spPr>
          <a:xfrm>
            <a:off x="0" y="4536775"/>
            <a:ext cx="1382950" cy="6067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2" name="Shape 112"/>
        <p:cNvGrpSpPr/>
        <p:nvPr/>
      </p:nvGrpSpPr>
      <p:grpSpPr>
        <a:xfrm>
          <a:off x="0" y="0"/>
          <a:ext cx="0" cy="0"/>
          <a:chOff x="0" y="0"/>
          <a:chExt cx="0" cy="0"/>
        </a:xfrm>
      </p:grpSpPr>
      <p:grpSp>
        <p:nvGrpSpPr>
          <p:cNvPr id="113" name="Google Shape;113;p11"/>
          <p:cNvGrpSpPr/>
          <p:nvPr/>
        </p:nvGrpSpPr>
        <p:grpSpPr>
          <a:xfrm>
            <a:off x="4406400" y="0"/>
            <a:ext cx="4737600" cy="5143065"/>
            <a:chOff x="4406400" y="0"/>
            <a:chExt cx="4737600" cy="5143065"/>
          </a:xfrm>
        </p:grpSpPr>
        <p:sp>
          <p:nvSpPr>
            <p:cNvPr id="114" name="Google Shape;114;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 name="Google Shape;132;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33" name="Google Shape;133;p11"/>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34" name="Google Shape;134;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35" name="Google Shape;135;p11"/>
          <p:cNvPicPr preferRelativeResize="0"/>
          <p:nvPr/>
        </p:nvPicPr>
        <p:blipFill rotWithShape="1">
          <a:blip r:embed="rId2">
            <a:alphaModFix/>
          </a:blip>
          <a:srcRect b="39581" l="0" r="0" t="0"/>
          <a:stretch/>
        </p:blipFill>
        <p:spPr>
          <a:xfrm>
            <a:off x="0" y="4536338"/>
            <a:ext cx="1382950" cy="60672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6" name="Shape 136"/>
        <p:cNvGrpSpPr/>
        <p:nvPr/>
      </p:nvGrpSpPr>
      <p:grpSpPr>
        <a:xfrm>
          <a:off x="0" y="0"/>
          <a:ext cx="0" cy="0"/>
          <a:chOff x="0" y="0"/>
          <a:chExt cx="0" cy="0"/>
        </a:xfrm>
      </p:grpSpPr>
      <p:pic>
        <p:nvPicPr>
          <p:cNvPr id="137" name="Google Shape;137;p12"/>
          <p:cNvPicPr preferRelativeResize="0"/>
          <p:nvPr/>
        </p:nvPicPr>
        <p:blipFill rotWithShape="1">
          <a:blip r:embed="rId2">
            <a:alphaModFix/>
          </a:blip>
          <a:srcRect b="0" l="0" r="0" t="0"/>
          <a:stretch/>
        </p:blipFill>
        <p:spPr>
          <a:xfrm>
            <a:off x="2955825" y="1398187"/>
            <a:ext cx="3232351" cy="23471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vimeo.com/83637773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www.youtube.com/watch?v=ZOdiIUNP-g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4"/>
          <p:cNvSpPr txBox="1"/>
          <p:nvPr>
            <p:ph type="ctrTitle"/>
          </p:nvPr>
        </p:nvSpPr>
        <p:spPr>
          <a:xfrm>
            <a:off x="3161000" y="1587150"/>
            <a:ext cx="5491200" cy="15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Block Format</a:t>
            </a:r>
            <a:endParaRPr/>
          </a:p>
          <a:p>
            <a:pPr indent="0" lvl="0" marL="0" rtl="0" algn="l">
              <a:spcBef>
                <a:spcPts val="0"/>
              </a:spcBef>
              <a:spcAft>
                <a:spcPts val="0"/>
              </a:spcAft>
              <a:buNone/>
            </a:pPr>
            <a:r>
              <a:t/>
            </a:r>
            <a:endParaRPr sz="1800"/>
          </a:p>
          <a:p>
            <a:pPr indent="0" lvl="0" marL="0" rtl="0" algn="l">
              <a:spcBef>
                <a:spcPts val="0"/>
              </a:spcBef>
              <a:spcAft>
                <a:spcPts val="0"/>
              </a:spcAft>
              <a:buNone/>
            </a:pPr>
            <a:r>
              <a:t/>
            </a:r>
            <a:endParaRPr/>
          </a:p>
          <a:p>
            <a:pPr indent="0" lvl="0" marL="0" rtl="0" algn="l">
              <a:spcBef>
                <a:spcPts val="0"/>
              </a:spcBef>
              <a:spcAft>
                <a:spcPts val="0"/>
              </a:spcAft>
              <a:buNone/>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5"/>
          <p:cNvSpPr txBox="1"/>
          <p:nvPr>
            <p:ph type="ctrTitle"/>
          </p:nvPr>
        </p:nvSpPr>
        <p:spPr>
          <a:xfrm>
            <a:off x="3108525" y="292525"/>
            <a:ext cx="5017500" cy="46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200"/>
              <a:t>Why Formats Matter</a:t>
            </a:r>
            <a:endParaRPr b="1" sz="3200"/>
          </a:p>
          <a:p>
            <a:pPr indent="0" lvl="0" marL="0" rtl="0" algn="l">
              <a:spcBef>
                <a:spcPts val="0"/>
              </a:spcBef>
              <a:spcAft>
                <a:spcPts val="0"/>
              </a:spcAft>
              <a:buNone/>
            </a:pPr>
            <a:r>
              <a:t/>
            </a:r>
            <a:endParaRPr b="1" sz="1900"/>
          </a:p>
          <a:p>
            <a:pPr indent="-349250" lvl="0" marL="457200" rtl="0" algn="l">
              <a:spcBef>
                <a:spcPts val="0"/>
              </a:spcBef>
              <a:spcAft>
                <a:spcPts val="0"/>
              </a:spcAft>
              <a:buSzPts val="1900"/>
              <a:buAutoNum type="arabicPeriod"/>
            </a:pPr>
            <a:r>
              <a:rPr lang="en" sz="1900"/>
              <a:t>Efficiency in prep </a:t>
            </a:r>
            <a:endParaRPr sz="1900"/>
          </a:p>
          <a:p>
            <a:pPr indent="0" lvl="0" marL="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System which both debater and judge can understand</a:t>
            </a:r>
            <a:endParaRPr sz="1900"/>
          </a:p>
          <a:p>
            <a:pPr indent="0" lvl="0" marL="45720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Argument organization and formation </a:t>
            </a:r>
            <a:endParaRPr sz="1900"/>
          </a:p>
          <a:p>
            <a:pPr indent="0" lvl="0" marL="45720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b="1" sz="3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6"/>
          <p:cNvSpPr txBox="1"/>
          <p:nvPr>
            <p:ph type="ctrTitle"/>
          </p:nvPr>
        </p:nvSpPr>
        <p:spPr>
          <a:xfrm>
            <a:off x="3108525" y="292525"/>
            <a:ext cx="5017500" cy="46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200"/>
              <a:t>Quick review - CWEI </a:t>
            </a:r>
            <a:endParaRPr b="1" sz="3200"/>
          </a:p>
          <a:p>
            <a:pPr indent="0" lvl="0" marL="0" rtl="0" algn="l">
              <a:spcBef>
                <a:spcPts val="0"/>
              </a:spcBef>
              <a:spcAft>
                <a:spcPts val="0"/>
              </a:spcAft>
              <a:buNone/>
            </a:pPr>
            <a:r>
              <a:t/>
            </a:r>
            <a:endParaRPr b="1" sz="1800"/>
          </a:p>
          <a:p>
            <a:pPr indent="-342900" lvl="0" marL="457200" rtl="0" algn="l">
              <a:spcBef>
                <a:spcPts val="0"/>
              </a:spcBef>
              <a:spcAft>
                <a:spcPts val="0"/>
              </a:spcAft>
              <a:buSzPts val="1800"/>
              <a:buAutoNum type="arabicPeriod"/>
            </a:pPr>
            <a:r>
              <a:rPr lang="en" sz="1800"/>
              <a:t>Claim  </a:t>
            </a:r>
            <a:endParaRPr sz="1800"/>
          </a:p>
          <a:p>
            <a:pPr indent="-342900" lvl="1" marL="914400" rtl="0" algn="l">
              <a:spcBef>
                <a:spcPts val="0"/>
              </a:spcBef>
              <a:spcAft>
                <a:spcPts val="0"/>
              </a:spcAft>
              <a:buSzPts val="1800"/>
              <a:buAutoNum type="alphaLcPeriod"/>
            </a:pPr>
            <a:r>
              <a:rPr lang="en" sz="1800"/>
              <a:t>The topic sentence of the block  </a:t>
            </a:r>
            <a:endParaRPr sz="1800"/>
          </a:p>
          <a:p>
            <a:pPr indent="-342900" lvl="0" marL="457200" rtl="0" algn="l">
              <a:spcBef>
                <a:spcPts val="0"/>
              </a:spcBef>
              <a:spcAft>
                <a:spcPts val="0"/>
              </a:spcAft>
              <a:buSzPts val="1800"/>
              <a:buAutoNum type="arabicPeriod"/>
            </a:pPr>
            <a:r>
              <a:rPr lang="en" sz="1800"/>
              <a:t>Warrant  </a:t>
            </a:r>
            <a:endParaRPr sz="1800"/>
          </a:p>
          <a:p>
            <a:pPr indent="-342900" lvl="1" marL="914400" rtl="0" algn="l">
              <a:spcBef>
                <a:spcPts val="0"/>
              </a:spcBef>
              <a:spcAft>
                <a:spcPts val="0"/>
              </a:spcAft>
              <a:buSzPts val="1800"/>
              <a:buAutoNum type="alphaLcPeriod"/>
            </a:pPr>
            <a:r>
              <a:rPr lang="en" sz="1800"/>
              <a:t>Why is the topic sentence true? </a:t>
            </a:r>
            <a:endParaRPr sz="1800"/>
          </a:p>
          <a:p>
            <a:pPr indent="-342900" lvl="0" marL="457200" rtl="0" algn="l">
              <a:spcBef>
                <a:spcPts val="0"/>
              </a:spcBef>
              <a:spcAft>
                <a:spcPts val="0"/>
              </a:spcAft>
              <a:buSzPts val="1800"/>
              <a:buAutoNum type="arabicPeriod"/>
            </a:pPr>
            <a:r>
              <a:rPr lang="en" sz="1800"/>
              <a:t>Evidence  </a:t>
            </a:r>
            <a:endParaRPr sz="1800"/>
          </a:p>
          <a:p>
            <a:pPr indent="-342900" lvl="1" marL="914400" rtl="0" algn="l">
              <a:spcBef>
                <a:spcPts val="0"/>
              </a:spcBef>
              <a:spcAft>
                <a:spcPts val="0"/>
              </a:spcAft>
              <a:buSzPts val="1800"/>
              <a:buAutoNum type="alphaLcPeriod"/>
            </a:pPr>
            <a:r>
              <a:rPr lang="en" sz="1800"/>
              <a:t>Citations + Proving something to be true</a:t>
            </a:r>
            <a:endParaRPr sz="1800"/>
          </a:p>
          <a:p>
            <a:pPr indent="-342900" lvl="0" marL="457200" rtl="0" algn="l">
              <a:spcBef>
                <a:spcPts val="0"/>
              </a:spcBef>
              <a:spcAft>
                <a:spcPts val="0"/>
              </a:spcAft>
              <a:buSzPts val="1800"/>
              <a:buAutoNum type="arabicPeriod"/>
            </a:pPr>
            <a:r>
              <a:rPr lang="en" sz="1800"/>
              <a:t>Impact  </a:t>
            </a:r>
            <a:endParaRPr sz="1800"/>
          </a:p>
          <a:p>
            <a:pPr indent="-342900" lvl="1" marL="914400" rtl="0" algn="l">
              <a:spcBef>
                <a:spcPts val="0"/>
              </a:spcBef>
              <a:spcAft>
                <a:spcPts val="0"/>
              </a:spcAft>
              <a:buSzPts val="1800"/>
              <a:buAutoNum type="alphaLcPeriod"/>
            </a:pPr>
            <a:r>
              <a:rPr lang="en" sz="1800"/>
              <a:t>Why do I care </a:t>
            </a:r>
            <a:endParaRPr sz="1800"/>
          </a:p>
          <a:p>
            <a:pPr indent="0" lvl="0" marL="457200" rtl="0" algn="l">
              <a:spcBef>
                <a:spcPts val="0"/>
              </a:spcBef>
              <a:spcAft>
                <a:spcPts val="0"/>
              </a:spcAft>
              <a:buNone/>
            </a:pPr>
            <a:r>
              <a:t/>
            </a:r>
            <a:endParaRPr b="1" sz="3200"/>
          </a:p>
          <a:p>
            <a:pPr indent="0" lvl="0" marL="45720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b="1" sz="3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7"/>
          <p:cNvSpPr txBox="1"/>
          <p:nvPr>
            <p:ph type="ctrTitle"/>
          </p:nvPr>
        </p:nvSpPr>
        <p:spPr>
          <a:xfrm>
            <a:off x="3108525" y="292525"/>
            <a:ext cx="5017500" cy="4604700"/>
          </a:xfrm>
          <a:prstGeom prst="rect">
            <a:avLst/>
          </a:prstGeom>
        </p:spPr>
        <p:txBody>
          <a:bodyPr anchorCtr="0" anchor="t" bIns="91425" lIns="91425" spcFirstLastPara="1" rIns="91425" wrap="square" tIns="91425">
            <a:noAutofit/>
          </a:bodyPr>
          <a:lstStyle/>
          <a:p>
            <a:pPr indent="0" lvl="0" marL="0" rtl="0" algn="l">
              <a:spcBef>
                <a:spcPts val="291"/>
              </a:spcBef>
              <a:spcAft>
                <a:spcPts val="0"/>
              </a:spcAft>
              <a:buNone/>
            </a:pPr>
            <a:r>
              <a:rPr b="1" lang="en" sz="3200"/>
              <a:t>Example of CWEI</a:t>
            </a:r>
            <a:endParaRPr b="1" sz="3200"/>
          </a:p>
          <a:p>
            <a:pPr indent="0" lvl="0" marL="0" rtl="0" algn="l">
              <a:spcBef>
                <a:spcPts val="291"/>
              </a:spcBef>
              <a:spcAft>
                <a:spcPts val="0"/>
              </a:spcAft>
              <a:buNone/>
            </a:pPr>
            <a:r>
              <a:t/>
            </a:r>
            <a:endParaRPr b="1" sz="1800"/>
          </a:p>
          <a:p>
            <a:pPr indent="0" lvl="0" marL="0" rtl="0" algn="l">
              <a:spcBef>
                <a:spcPts val="291"/>
              </a:spcBef>
              <a:spcAft>
                <a:spcPts val="0"/>
              </a:spcAft>
              <a:buNone/>
            </a:pPr>
            <a:r>
              <a:rPr b="1" lang="en" sz="1800"/>
              <a:t>Bill</a:t>
            </a:r>
            <a:r>
              <a:rPr lang="en" sz="1800"/>
              <a:t>: Raise the minimum wage to $15 an hour</a:t>
            </a:r>
            <a:endParaRPr sz="1800"/>
          </a:p>
          <a:p>
            <a:pPr indent="0" lvl="0" marL="0" rtl="0" algn="l">
              <a:spcBef>
                <a:spcPts val="291"/>
              </a:spcBef>
              <a:spcAft>
                <a:spcPts val="0"/>
              </a:spcAft>
              <a:buNone/>
            </a:pPr>
            <a:r>
              <a:t/>
            </a:r>
            <a:endParaRPr sz="1800"/>
          </a:p>
          <a:p>
            <a:pPr indent="0" lvl="0" marL="0" rtl="0" algn="l">
              <a:spcBef>
                <a:spcPts val="291"/>
              </a:spcBef>
              <a:spcAft>
                <a:spcPts val="0"/>
              </a:spcAft>
              <a:buNone/>
            </a:pPr>
            <a:r>
              <a:rPr lang="en" sz="1800">
                <a:highlight>
                  <a:srgbClr val="FFFF00"/>
                </a:highlight>
              </a:rPr>
              <a:t>C: Improve quality of life</a:t>
            </a:r>
            <a:endParaRPr sz="1800">
              <a:highlight>
                <a:srgbClr val="FFFF00"/>
              </a:highlight>
            </a:endParaRPr>
          </a:p>
          <a:p>
            <a:pPr indent="0" lvl="0" marL="0" rtl="0" algn="l">
              <a:spcBef>
                <a:spcPts val="291"/>
              </a:spcBef>
              <a:spcAft>
                <a:spcPts val="0"/>
              </a:spcAft>
              <a:buNone/>
            </a:pPr>
            <a:r>
              <a:rPr lang="en" sz="1800">
                <a:highlight>
                  <a:srgbClr val="00FFFF"/>
                </a:highlight>
              </a:rPr>
              <a:t>W: Many minimum wage workers can’t afford necessities</a:t>
            </a:r>
            <a:endParaRPr sz="1800">
              <a:highlight>
                <a:srgbClr val="00FFFF"/>
              </a:highlight>
            </a:endParaRPr>
          </a:p>
          <a:p>
            <a:pPr indent="0" lvl="0" marL="0" rtl="0" algn="l">
              <a:spcBef>
                <a:spcPts val="291"/>
              </a:spcBef>
              <a:spcAft>
                <a:spcPts val="0"/>
              </a:spcAft>
              <a:buNone/>
            </a:pPr>
            <a:r>
              <a:rPr lang="en" sz="1800">
                <a:highlight>
                  <a:srgbClr val="FF9900"/>
                </a:highlight>
              </a:rPr>
              <a:t>E: Alicia Adamcyzk from CNBC on July 14 2021 explains that minimum wage workers cannot afford a one bedroom apartment in 93% of US counties. </a:t>
            </a:r>
            <a:endParaRPr sz="1800">
              <a:highlight>
                <a:srgbClr val="FF9900"/>
              </a:highlight>
            </a:endParaRPr>
          </a:p>
          <a:p>
            <a:pPr indent="0" lvl="0" marL="0" rtl="0" algn="l">
              <a:spcBef>
                <a:spcPts val="291"/>
              </a:spcBef>
              <a:spcAft>
                <a:spcPts val="0"/>
              </a:spcAft>
              <a:buNone/>
            </a:pPr>
            <a:r>
              <a:rPr lang="en" sz="1800">
                <a:highlight>
                  <a:srgbClr val="00FF00"/>
                </a:highlight>
              </a:rPr>
              <a:t>I: Minimum wage workers are living paycheck to paycheck, not able to afford a place to call home.</a:t>
            </a:r>
            <a:endParaRPr sz="1800">
              <a:highlight>
                <a:srgbClr val="00FF00"/>
              </a:highlight>
            </a:endParaRPr>
          </a:p>
          <a:p>
            <a:pPr indent="0" lvl="0" marL="457200" rtl="0" algn="l">
              <a:spcBef>
                <a:spcPts val="0"/>
              </a:spcBef>
              <a:spcAft>
                <a:spcPts val="0"/>
              </a:spcAft>
              <a:buNone/>
            </a:pPr>
            <a:r>
              <a:t/>
            </a:r>
            <a:endParaRPr b="1" sz="3200"/>
          </a:p>
          <a:p>
            <a:pPr indent="0" lvl="0" marL="45720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b="1" sz="3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8"/>
          <p:cNvSpPr txBox="1"/>
          <p:nvPr>
            <p:ph type="ctrTitle"/>
          </p:nvPr>
        </p:nvSpPr>
        <p:spPr>
          <a:xfrm>
            <a:off x="3081900" y="462250"/>
            <a:ext cx="5560500" cy="403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200"/>
              <a:t>Why CWEI is Suboptimal</a:t>
            </a:r>
            <a:endParaRPr b="1" sz="3200"/>
          </a:p>
          <a:p>
            <a:pPr indent="0" lvl="0" marL="0" rtl="0" algn="l">
              <a:spcBef>
                <a:spcPts val="0"/>
              </a:spcBef>
              <a:spcAft>
                <a:spcPts val="0"/>
              </a:spcAft>
              <a:buNone/>
            </a:pPr>
            <a:r>
              <a:t/>
            </a:r>
            <a:endParaRPr b="1" sz="1800"/>
          </a:p>
          <a:p>
            <a:pPr indent="-342900" lvl="0" marL="457200" rtl="0" algn="l">
              <a:spcBef>
                <a:spcPts val="0"/>
              </a:spcBef>
              <a:spcAft>
                <a:spcPts val="0"/>
              </a:spcAft>
              <a:buSzPts val="1800"/>
              <a:buAutoNum type="arabicPeriod"/>
            </a:pPr>
            <a:r>
              <a:rPr lang="en" sz="1800"/>
              <a:t>CWEI lacks depth </a:t>
            </a:r>
            <a:endParaRPr sz="1800"/>
          </a:p>
          <a:p>
            <a:pPr indent="0" lvl="0" marL="457200" rtl="0" algn="l">
              <a:spcBef>
                <a:spcPts val="0"/>
              </a:spcBef>
              <a:spcAft>
                <a:spcPts val="0"/>
              </a:spcAft>
              <a:buNone/>
            </a:pPr>
            <a:r>
              <a:t/>
            </a:r>
            <a:endParaRPr sz="1800"/>
          </a:p>
          <a:p>
            <a:pPr indent="-342900" lvl="1" marL="914400" rtl="0" algn="l">
              <a:spcBef>
                <a:spcPts val="0"/>
              </a:spcBef>
              <a:spcAft>
                <a:spcPts val="0"/>
              </a:spcAft>
              <a:buSzPts val="1800"/>
              <a:buAutoNum type="alphaLcPeriod"/>
            </a:pPr>
            <a:r>
              <a:rPr lang="en" sz="1800"/>
              <a:t>You use multiple arguments that aren’t very connected</a:t>
            </a:r>
            <a:endParaRPr sz="1800"/>
          </a:p>
          <a:p>
            <a:pPr indent="0" lvl="0" marL="914400" rtl="0" algn="l">
              <a:spcBef>
                <a:spcPts val="0"/>
              </a:spcBef>
              <a:spcAft>
                <a:spcPts val="0"/>
              </a:spcAft>
              <a:buNone/>
            </a:pPr>
            <a:r>
              <a:t/>
            </a:r>
            <a:endParaRPr sz="1800"/>
          </a:p>
          <a:p>
            <a:pPr indent="-342900" lvl="1" marL="914400" rtl="0" algn="l">
              <a:spcBef>
                <a:spcPts val="0"/>
              </a:spcBef>
              <a:spcAft>
                <a:spcPts val="0"/>
              </a:spcAft>
              <a:buSzPts val="1800"/>
              <a:buAutoNum type="alphaLcPeriod"/>
            </a:pPr>
            <a:r>
              <a:rPr lang="en" sz="1800"/>
              <a:t>All of your arguments are not fleshed out enough</a:t>
            </a:r>
            <a:endParaRPr sz="1800"/>
          </a:p>
          <a:p>
            <a:pPr indent="0" lvl="0" marL="914400" rtl="0" algn="l">
              <a:spcBef>
                <a:spcPts val="0"/>
              </a:spcBef>
              <a:spcAft>
                <a:spcPts val="0"/>
              </a:spcAft>
              <a:buNone/>
            </a:pPr>
            <a:r>
              <a:t/>
            </a:r>
            <a:endParaRPr sz="1800"/>
          </a:p>
          <a:p>
            <a:pPr indent="-342900" lvl="0" marL="457200" rtl="0" algn="l">
              <a:spcBef>
                <a:spcPts val="0"/>
              </a:spcBef>
              <a:spcAft>
                <a:spcPts val="0"/>
              </a:spcAft>
              <a:buSzPts val="1800"/>
              <a:buAutoNum type="arabicPeriod"/>
            </a:pPr>
            <a:r>
              <a:rPr lang="en" sz="1800"/>
              <a:t>However; Claims, Warrants, Evidence, and Impacts are fundamental to debate</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AutoNum type="arabicPeriod"/>
            </a:pPr>
            <a:r>
              <a:rPr lang="en" sz="1800"/>
              <a:t>Less competitively successful</a:t>
            </a:r>
            <a:endParaRPr sz="1800"/>
          </a:p>
          <a:p>
            <a:pPr indent="0" lvl="0" marL="0" rtl="0" algn="l">
              <a:spcBef>
                <a:spcPts val="0"/>
              </a:spcBef>
              <a:spcAft>
                <a:spcPts val="0"/>
              </a:spcAft>
              <a:buNone/>
            </a:pPr>
            <a:r>
              <a:t/>
            </a:r>
            <a:endParaRPr sz="1900"/>
          </a:p>
          <a:p>
            <a:pPr indent="0" lvl="0" marL="45720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457200" rtl="0" algn="l">
              <a:spcBef>
                <a:spcPts val="0"/>
              </a:spcBef>
              <a:spcAft>
                <a:spcPts val="0"/>
              </a:spcAft>
              <a:buNone/>
            </a:pPr>
            <a:r>
              <a:t/>
            </a:r>
            <a:endParaRPr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a:p>
            <a:pPr indent="0" lvl="0" marL="457200" rtl="0" algn="l">
              <a:spcBef>
                <a:spcPts val="0"/>
              </a:spcBef>
              <a:spcAft>
                <a:spcPts val="0"/>
              </a:spcAft>
              <a:buClr>
                <a:schemeClr val="lt1"/>
              </a:buClr>
              <a:buSzPts val="1100"/>
              <a:buFont typeface="Arial"/>
              <a:buNone/>
            </a:pPr>
            <a:r>
              <a:t/>
            </a:r>
            <a:endParaRPr sz="1900"/>
          </a:p>
          <a:p>
            <a:pPr indent="0" lvl="0" marL="457200" rtl="0" algn="l">
              <a:spcBef>
                <a:spcPts val="0"/>
              </a:spcBef>
              <a:spcAft>
                <a:spcPts val="0"/>
              </a:spcAft>
              <a:buNone/>
            </a:pPr>
            <a:r>
              <a:rPr lang="en" sz="1900"/>
              <a:t> </a:t>
            </a:r>
            <a:endParaRPr sz="1900"/>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400"/>
              <a:t>Origin of Block Format</a:t>
            </a:r>
            <a:endParaRPr b="1" sz="4400"/>
          </a:p>
        </p:txBody>
      </p:sp>
      <p:sp>
        <p:nvSpPr>
          <p:cNvPr id="172" name="Google Shape;172;p1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500">
                <a:latin typeface="Montserrat"/>
                <a:ea typeface="Montserrat"/>
                <a:cs typeface="Montserrat"/>
                <a:sym typeface="Montserrat"/>
              </a:rPr>
              <a:t>In 2019, Quest still taught the CWEI 2-3 argument style but he and Rohit Jhawar felt limited. You can’t really thoroughly explain an argument if you need to do 2 or 3 of them. So, they needed a single argument format, but there was nothing universalized. At the time there was a successful debater named Greg Seabrooks, who once proved a single idea and impacted out of it, he won senate 2017 doing this. Quest took inspiration from this style and systemized it into block format. Immediately, Rohit Jhawar won NSDA using it. Through 6ish years of use and optimization, the format and users of it have won 5 tocs, majority of national championships and invitationals, as well as state championships in the congress oriented states. </a:t>
            </a:r>
            <a:endParaRPr sz="1500">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200"/>
              <a:t>Origin of Block Format</a:t>
            </a:r>
            <a:endParaRPr b="1" sz="4200"/>
          </a:p>
        </p:txBody>
      </p:sp>
      <p:sp>
        <p:nvSpPr>
          <p:cNvPr id="178" name="Google Shape;178;p20"/>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Font typeface="Montserrat"/>
              <a:buChar char="●"/>
            </a:pPr>
            <a:r>
              <a:rPr lang="en" sz="1500">
                <a:latin typeface="Montserrat"/>
                <a:ea typeface="Montserrat"/>
                <a:cs typeface="Montserrat"/>
                <a:sym typeface="Montserrat"/>
              </a:rPr>
              <a:t>In the old days of CWEI 3 contention speeches, sponsorships actually did pretty well because they were structured as a single argument</a:t>
            </a:r>
            <a:endParaRPr sz="1500">
              <a:latin typeface="Montserrat"/>
              <a:ea typeface="Montserrat"/>
              <a:cs typeface="Montserrat"/>
              <a:sym typeface="Montserrat"/>
            </a:endParaRPr>
          </a:p>
          <a:p>
            <a:pPr indent="-323850" lvl="1" marL="914400" rtl="0" algn="l">
              <a:lnSpc>
                <a:spcPct val="150000"/>
              </a:lnSpc>
              <a:spcBef>
                <a:spcPts val="0"/>
              </a:spcBef>
              <a:spcAft>
                <a:spcPts val="0"/>
              </a:spcAft>
              <a:buSzPts val="1500"/>
              <a:buFont typeface="Montserrat"/>
              <a:buChar char="○"/>
            </a:pPr>
            <a:r>
              <a:rPr lang="en" sz="1500">
                <a:latin typeface="Montserrat"/>
                <a:ea typeface="Montserrat"/>
                <a:cs typeface="Montserrat"/>
                <a:sym typeface="Montserrat"/>
              </a:rPr>
              <a:t>Heavy squo analysis- what the bill will do- why that matters</a:t>
            </a:r>
            <a:endParaRPr sz="1500">
              <a:latin typeface="Montserrat"/>
              <a:ea typeface="Montserrat"/>
              <a:cs typeface="Montserrat"/>
              <a:sym typeface="Montserrat"/>
            </a:endParaRPr>
          </a:p>
          <a:p>
            <a:pPr indent="-323850" lvl="0" marL="457200" rtl="0" algn="l">
              <a:lnSpc>
                <a:spcPct val="150000"/>
              </a:lnSpc>
              <a:spcBef>
                <a:spcPts val="0"/>
              </a:spcBef>
              <a:spcAft>
                <a:spcPts val="0"/>
              </a:spcAft>
              <a:buSzPts val="1500"/>
              <a:buFont typeface="Montserrat"/>
              <a:buChar char="●"/>
            </a:pPr>
            <a:r>
              <a:rPr lang="en" sz="1500">
                <a:latin typeface="Montserrat"/>
                <a:ea typeface="Montserrat"/>
                <a:cs typeface="Montserrat"/>
                <a:sym typeface="Montserrat"/>
              </a:rPr>
              <a:t>Block format was created to use one argument because it was easier to understand</a:t>
            </a:r>
            <a:endParaRPr sz="1500">
              <a:latin typeface="Montserrat"/>
              <a:ea typeface="Montserrat"/>
              <a:cs typeface="Montserrat"/>
              <a:sym typeface="Montserrat"/>
            </a:endParaRPr>
          </a:p>
          <a:p>
            <a:pPr indent="-323850" lvl="0" marL="457200" rtl="0" algn="l">
              <a:lnSpc>
                <a:spcPct val="150000"/>
              </a:lnSpc>
              <a:spcBef>
                <a:spcPts val="0"/>
              </a:spcBef>
              <a:spcAft>
                <a:spcPts val="0"/>
              </a:spcAft>
              <a:buSzPts val="1500"/>
              <a:buFont typeface="Montserrat"/>
              <a:buChar char="●"/>
            </a:pPr>
            <a:r>
              <a:rPr lang="en" sz="1500">
                <a:latin typeface="Montserrat"/>
                <a:ea typeface="Montserrat"/>
                <a:cs typeface="Montserrat"/>
                <a:sym typeface="Montserrat"/>
              </a:rPr>
              <a:t>It is easier for judges to understand a single link chain of A -&gt; B -&gt; C instead of 3 of them </a:t>
            </a:r>
            <a:endParaRPr sz="1500">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type="ctrTitle"/>
          </p:nvPr>
        </p:nvSpPr>
        <p:spPr>
          <a:xfrm>
            <a:off x="3108525" y="292525"/>
            <a:ext cx="5017500" cy="46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200"/>
              <a:t>Block Format: 3 Main Components</a:t>
            </a:r>
            <a:endParaRPr b="1" sz="3200"/>
          </a:p>
          <a:p>
            <a:pPr indent="0" lvl="0" marL="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Status Quo</a:t>
            </a:r>
            <a:endParaRPr sz="1900"/>
          </a:p>
          <a:p>
            <a:pPr indent="0" lvl="0" marL="45720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Outcome (include unique action)</a:t>
            </a:r>
            <a:endParaRPr sz="1900"/>
          </a:p>
          <a:p>
            <a:pPr indent="0" lvl="0" marL="45720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Impact</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b="1" sz="3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type="ctrTitle"/>
          </p:nvPr>
        </p:nvSpPr>
        <p:spPr>
          <a:xfrm>
            <a:off x="3108525" y="292525"/>
            <a:ext cx="5017500" cy="46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200"/>
              <a:t>Status Quo</a:t>
            </a:r>
            <a:endParaRPr b="1" sz="3200"/>
          </a:p>
          <a:p>
            <a:pPr indent="0" lvl="0" marL="0" rtl="0" algn="l">
              <a:spcBef>
                <a:spcPts val="0"/>
              </a:spcBef>
              <a:spcAft>
                <a:spcPts val="0"/>
              </a:spcAft>
              <a:buNone/>
            </a:pPr>
            <a:r>
              <a:t/>
            </a:r>
            <a:endParaRPr b="1" sz="1900"/>
          </a:p>
          <a:p>
            <a:pPr indent="-349250" lvl="0" marL="457200" rtl="0" algn="l">
              <a:spcBef>
                <a:spcPts val="0"/>
              </a:spcBef>
              <a:spcAft>
                <a:spcPts val="0"/>
              </a:spcAft>
              <a:buSzPts val="1900"/>
              <a:buAutoNum type="arabicPeriod"/>
            </a:pPr>
            <a:r>
              <a:rPr lang="en" sz="1900"/>
              <a:t>What is the Status Quo of the </a:t>
            </a:r>
            <a:r>
              <a:rPr b="1" lang="en" sz="1900"/>
              <a:t>argument</a:t>
            </a:r>
            <a:r>
              <a:rPr lang="en" sz="1900"/>
              <a:t>? - You need to be answering this question </a:t>
            </a:r>
            <a:endParaRPr sz="1900"/>
          </a:p>
          <a:p>
            <a:pPr indent="-349250" lvl="0" marL="457200" rtl="0" algn="l">
              <a:spcBef>
                <a:spcPts val="0"/>
              </a:spcBef>
              <a:spcAft>
                <a:spcPts val="0"/>
              </a:spcAft>
              <a:buSzPts val="1900"/>
              <a:buAutoNum type="arabicPeriod"/>
            </a:pPr>
            <a:r>
              <a:rPr lang="en" sz="1900"/>
              <a:t>The primary purpose here is to provide judges with the necessary context to understand your argument: you must </a:t>
            </a:r>
            <a:r>
              <a:rPr lang="en" sz="1900"/>
              <a:t>establish</a:t>
            </a:r>
            <a:r>
              <a:rPr lang="en" sz="1900"/>
              <a:t> that there’s a problem in the SQUO if your argument is about solving that problem</a:t>
            </a:r>
            <a:endParaRPr sz="1900"/>
          </a:p>
          <a:p>
            <a:pPr indent="-349250" lvl="0" marL="457200" rtl="0" algn="l">
              <a:spcBef>
                <a:spcPts val="0"/>
              </a:spcBef>
              <a:spcAft>
                <a:spcPts val="0"/>
              </a:spcAft>
              <a:buSzPts val="1900"/>
              <a:buAutoNum type="arabicPeriod"/>
            </a:pPr>
            <a:r>
              <a:rPr lang="en" sz="1900"/>
              <a:t>SQUO: UNIQUE TO ARGUMENT NOT TOPIC</a:t>
            </a:r>
            <a:endParaRPr sz="1900"/>
          </a:p>
          <a:p>
            <a:pPr indent="-349250" lvl="0" marL="457200" rtl="0" algn="l">
              <a:spcBef>
                <a:spcPts val="0"/>
              </a:spcBef>
              <a:spcAft>
                <a:spcPts val="0"/>
              </a:spcAft>
              <a:buSzPts val="1900"/>
              <a:buAutoNum type="arabicPeriod"/>
            </a:pPr>
            <a:r>
              <a:rPr lang="en" sz="1900"/>
              <a:t>Good SQUO’s can double as refutation</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45720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b="1" sz="3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type="ctrTitle"/>
          </p:nvPr>
        </p:nvSpPr>
        <p:spPr>
          <a:xfrm>
            <a:off x="3081900" y="462250"/>
            <a:ext cx="5907900" cy="403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3200"/>
              <a:t>Status Quo Example</a:t>
            </a:r>
            <a:endParaRPr sz="1900"/>
          </a:p>
          <a:p>
            <a:pPr indent="0" lvl="0" marL="0" rtl="0" algn="l">
              <a:spcBef>
                <a:spcPts val="0"/>
              </a:spcBef>
              <a:spcAft>
                <a:spcPts val="0"/>
              </a:spcAft>
              <a:buNone/>
            </a:pPr>
            <a:r>
              <a:rPr lang="en" sz="1900">
                <a:highlight>
                  <a:srgbClr val="FFFF00"/>
                </a:highlight>
              </a:rPr>
              <a:t>Workers, who are the backbones of companies are being squeezed for profit.</a:t>
            </a:r>
            <a:endParaRPr sz="1900">
              <a:highlight>
                <a:srgbClr val="FFFF00"/>
              </a:highlight>
            </a:endParaRPr>
          </a:p>
          <a:p>
            <a:pPr indent="0" lvl="0" marL="0" rtl="0" algn="l">
              <a:spcBef>
                <a:spcPts val="0"/>
              </a:spcBef>
              <a:spcAft>
                <a:spcPts val="0"/>
              </a:spcAft>
              <a:buClr>
                <a:schemeClr val="lt1"/>
              </a:buClr>
              <a:buSzPts val="1100"/>
              <a:buFont typeface="Arial"/>
              <a:buNone/>
            </a:pPr>
            <a:r>
              <a:rPr lang="en" sz="1900">
                <a:highlight>
                  <a:srgbClr val="FF9900"/>
                </a:highlight>
              </a:rPr>
              <a:t>Ben Zipperer, EPI, Feb 7 2019, Workers today who are paid the federal minimum wage of $7.25 an hour are, after adjusting for inflation, paid 29 percent less than their counterparts 50 years ago.</a:t>
            </a:r>
            <a:r>
              <a:rPr lang="en" sz="1900">
                <a:highlight>
                  <a:srgbClr val="00FFFF"/>
                </a:highlight>
              </a:rPr>
              <a:t> This is despite the fact that the economy’s capacity to deliver higher wages has doubled in the last 50 years, as measured by labor productivity, or the amount of output produced by workers.</a:t>
            </a:r>
            <a:endParaRPr sz="1900">
              <a:highlight>
                <a:srgbClr val="00FFFF"/>
              </a:highlight>
            </a:endParaRPr>
          </a:p>
          <a:p>
            <a:pPr indent="0" lvl="0" marL="0" rtl="0" algn="l">
              <a:spcBef>
                <a:spcPts val="0"/>
              </a:spcBef>
              <a:spcAft>
                <a:spcPts val="0"/>
              </a:spcAft>
              <a:buClr>
                <a:schemeClr val="lt1"/>
              </a:buClr>
              <a:buSzPts val="1100"/>
              <a:buFont typeface="Arial"/>
              <a:buNone/>
            </a:pPr>
            <a:r>
              <a:t/>
            </a:r>
            <a:endParaRPr sz="1900">
              <a:highlight>
                <a:srgbClr val="FFFF00"/>
              </a:highlight>
            </a:endParaRPr>
          </a:p>
          <a:p>
            <a:pPr indent="0" lvl="0" marL="0" rtl="0" algn="l">
              <a:spcBef>
                <a:spcPts val="0"/>
              </a:spcBef>
              <a:spcAft>
                <a:spcPts val="0"/>
              </a:spcAft>
              <a:buNone/>
            </a:pPr>
            <a:r>
              <a:t/>
            </a:r>
            <a:endParaRPr sz="1900">
              <a:highlight>
                <a:srgbClr val="FFFF00"/>
              </a:highlight>
            </a:endParaRPr>
          </a:p>
          <a:p>
            <a:pPr indent="0" lvl="0" marL="0" rtl="0" algn="l">
              <a:spcBef>
                <a:spcPts val="0"/>
              </a:spcBef>
              <a:spcAft>
                <a:spcPts val="0"/>
              </a:spcAft>
              <a:buClr>
                <a:schemeClr val="lt1"/>
              </a:buClr>
              <a:buSzPts val="1100"/>
              <a:buFont typeface="Arial"/>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45720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457200" rtl="0" algn="l">
              <a:spcBef>
                <a:spcPts val="0"/>
              </a:spcBef>
              <a:spcAft>
                <a:spcPts val="0"/>
              </a:spcAft>
              <a:buNone/>
            </a:pPr>
            <a:r>
              <a:t/>
            </a:r>
            <a:endParaRPr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a:p>
            <a:pPr indent="0" lvl="0" marL="457200" rtl="0" algn="l">
              <a:spcBef>
                <a:spcPts val="0"/>
              </a:spcBef>
              <a:spcAft>
                <a:spcPts val="0"/>
              </a:spcAft>
              <a:buClr>
                <a:schemeClr val="lt1"/>
              </a:buClr>
              <a:buSzPts val="1100"/>
              <a:buFont typeface="Arial"/>
              <a:buNone/>
            </a:pPr>
            <a:r>
              <a:t/>
            </a:r>
            <a:endParaRPr sz="1900"/>
          </a:p>
          <a:p>
            <a:pPr indent="0" lvl="0" marL="457200" rtl="0" algn="l">
              <a:spcBef>
                <a:spcPts val="0"/>
              </a:spcBef>
              <a:spcAft>
                <a:spcPts val="0"/>
              </a:spcAft>
              <a:buNone/>
            </a:pPr>
            <a:r>
              <a:rPr lang="en" sz="1900"/>
              <a:t> </a:t>
            </a:r>
            <a:endParaRPr sz="1900"/>
          </a:p>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type="ctrTitle"/>
          </p:nvPr>
        </p:nvSpPr>
        <p:spPr>
          <a:xfrm>
            <a:off x="3108525" y="292525"/>
            <a:ext cx="5017500" cy="46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200"/>
              <a:t>Action </a:t>
            </a:r>
            <a:r>
              <a:rPr b="1" lang="en" sz="2500"/>
              <a:t>(Part of Outcome)</a:t>
            </a:r>
            <a:endParaRPr b="1" sz="2500"/>
          </a:p>
          <a:p>
            <a:pPr indent="0" lvl="0" marL="0" rtl="0" algn="l">
              <a:spcBef>
                <a:spcPts val="0"/>
              </a:spcBef>
              <a:spcAft>
                <a:spcPts val="0"/>
              </a:spcAft>
              <a:buNone/>
            </a:pPr>
            <a:r>
              <a:t/>
            </a:r>
            <a:endParaRPr b="1" sz="1900"/>
          </a:p>
          <a:p>
            <a:pPr indent="-349250" lvl="0" marL="457200" rtl="0" algn="l">
              <a:spcBef>
                <a:spcPts val="0"/>
              </a:spcBef>
              <a:spcAft>
                <a:spcPts val="0"/>
              </a:spcAft>
              <a:buSzPts val="1900"/>
              <a:buAutoNum type="arabicPeriod"/>
            </a:pPr>
            <a:r>
              <a:rPr lang="en" sz="1900"/>
              <a:t>What action is creating a new SQUO (in this bill)?</a:t>
            </a:r>
            <a:endParaRPr sz="1900"/>
          </a:p>
          <a:p>
            <a:pPr indent="0" lvl="0" marL="45720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The action should be 1-2 sentences where you reference what the bill does to CHANGE the SQUO</a:t>
            </a:r>
            <a:endParaRPr sz="1900"/>
          </a:p>
          <a:p>
            <a:pPr indent="0" lvl="0" marL="45720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Sec. 1 of this </a:t>
            </a:r>
            <a:r>
              <a:rPr lang="en" sz="1900"/>
              <a:t>legislation</a:t>
            </a:r>
            <a:r>
              <a:rPr lang="en" sz="1900"/>
              <a:t> does …. And Sec. 2 of this legislation does ….</a:t>
            </a:r>
            <a:endParaRPr sz="1900"/>
          </a:p>
          <a:p>
            <a:pPr indent="0" lvl="0" marL="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This shouldn’t be refutable/isn’t an argument: it’s only context for your judges</a:t>
            </a:r>
            <a:endParaRPr sz="1900"/>
          </a:p>
          <a:p>
            <a:pPr indent="0" lvl="0" marL="45720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b="1" sz="3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type="ctrTitle"/>
          </p:nvPr>
        </p:nvSpPr>
        <p:spPr>
          <a:xfrm>
            <a:off x="3108525" y="292525"/>
            <a:ext cx="5017500" cy="46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200"/>
              <a:t>Outcome</a:t>
            </a:r>
            <a:endParaRPr b="1" sz="3200"/>
          </a:p>
          <a:p>
            <a:pPr indent="0" lvl="0" marL="0" rtl="0" algn="l">
              <a:spcBef>
                <a:spcPts val="0"/>
              </a:spcBef>
              <a:spcAft>
                <a:spcPts val="0"/>
              </a:spcAft>
              <a:buNone/>
            </a:pPr>
            <a:r>
              <a:t/>
            </a:r>
            <a:endParaRPr b="1" sz="1900"/>
          </a:p>
          <a:p>
            <a:pPr indent="-349250" lvl="0" marL="457200" rtl="0" algn="l">
              <a:spcBef>
                <a:spcPts val="0"/>
              </a:spcBef>
              <a:spcAft>
                <a:spcPts val="0"/>
              </a:spcAft>
              <a:buSzPts val="1900"/>
              <a:buAutoNum type="arabicPeriod"/>
            </a:pPr>
            <a:r>
              <a:rPr lang="en" sz="1900"/>
              <a:t>What is the outcome of that action?</a:t>
            </a:r>
            <a:endParaRPr sz="1900"/>
          </a:p>
          <a:p>
            <a:pPr indent="0" lvl="0" marL="45720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The outcome of your action: what does this legislation do to change the status quo? </a:t>
            </a:r>
            <a:endParaRPr sz="1900"/>
          </a:p>
          <a:p>
            <a:pPr indent="0" lvl="0" marL="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This is your </a:t>
            </a:r>
            <a:r>
              <a:rPr b="1" lang="en" sz="1900"/>
              <a:t>argument</a:t>
            </a:r>
            <a:r>
              <a:rPr lang="en" sz="1900"/>
              <a:t> </a:t>
            </a:r>
            <a:endParaRPr sz="1900"/>
          </a:p>
          <a:p>
            <a:pPr indent="0" lvl="0" marL="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Congress comes down to which outcome/world is the best for Americans</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b="1" sz="3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type="ctrTitle"/>
          </p:nvPr>
        </p:nvSpPr>
        <p:spPr>
          <a:xfrm>
            <a:off x="3081900" y="462250"/>
            <a:ext cx="5930700" cy="403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3200"/>
              <a:t>Outcome (Action)</a:t>
            </a:r>
            <a:r>
              <a:rPr b="1" lang="en" sz="3200"/>
              <a:t> Example</a:t>
            </a:r>
            <a:endParaRPr b="1" sz="3200"/>
          </a:p>
          <a:p>
            <a:pPr indent="0" lvl="0" marL="0" rtl="0" algn="l">
              <a:spcBef>
                <a:spcPts val="0"/>
              </a:spcBef>
              <a:spcAft>
                <a:spcPts val="0"/>
              </a:spcAft>
              <a:buNone/>
            </a:pPr>
            <a:r>
              <a:rPr lang="en" sz="1900">
                <a:highlight>
                  <a:srgbClr val="FFFF00"/>
                </a:highlight>
              </a:rPr>
              <a:t>Pass this bill to decrease overworking. </a:t>
            </a:r>
            <a:r>
              <a:rPr lang="en" sz="1900"/>
              <a:t>Sec 1 raises the min wage to $15 an hour,</a:t>
            </a:r>
            <a:r>
              <a:rPr lang="en" sz="1900">
                <a:highlight>
                  <a:srgbClr val="FF9900"/>
                </a:highlight>
              </a:rPr>
              <a:t> </a:t>
            </a:r>
            <a:r>
              <a:rPr lang="en" sz="1800">
                <a:highlight>
                  <a:srgbClr val="FF9900"/>
                </a:highlight>
              </a:rPr>
              <a:t>the Census Bureau quantifies in June 2019 that more than 13 million minimum wage workers have to work more than one permanent job just to afford rent. </a:t>
            </a:r>
            <a:r>
              <a:rPr lang="en" sz="1800"/>
              <a:t>This is so detrimental because </a:t>
            </a:r>
            <a:r>
              <a:rPr lang="en" sz="1800">
                <a:highlight>
                  <a:srgbClr val="FF9900"/>
                </a:highlight>
              </a:rPr>
              <a:t>a study conducted by Walden University found that </a:t>
            </a:r>
            <a:r>
              <a:rPr lang="en" sz="1800">
                <a:highlight>
                  <a:srgbClr val="00FF00"/>
                </a:highlight>
              </a:rPr>
              <a:t>those who work more than 11 hours a day are 2.5 times more likely to develop depression due to stress and exhaustion. --- 13 million Americans are putting their health on the line working two jobs</a:t>
            </a:r>
            <a:r>
              <a:rPr lang="en" sz="1800">
                <a:highlight>
                  <a:srgbClr val="00FFFF"/>
                </a:highlight>
              </a:rPr>
              <a:t>, but when you double their wages, most workers will only need one job.</a:t>
            </a:r>
            <a:endParaRPr sz="1800">
              <a:highlight>
                <a:srgbClr val="00FFFF"/>
              </a:highlight>
            </a:endParaRPr>
          </a:p>
          <a:p>
            <a:pPr indent="0" lvl="0" marL="457200" rtl="0" algn="l">
              <a:spcBef>
                <a:spcPts val="0"/>
              </a:spcBef>
              <a:spcAft>
                <a:spcPts val="0"/>
              </a:spcAft>
              <a:buClr>
                <a:schemeClr val="lt1"/>
              </a:buClr>
              <a:buSzPts val="1100"/>
              <a:buFont typeface="Arial"/>
              <a:buNone/>
            </a:pPr>
            <a:r>
              <a:t/>
            </a:r>
            <a:endParaRPr sz="1900"/>
          </a:p>
          <a:p>
            <a:pPr indent="0" lvl="0" marL="457200" rtl="0" algn="l">
              <a:spcBef>
                <a:spcPts val="0"/>
              </a:spcBef>
              <a:spcAft>
                <a:spcPts val="0"/>
              </a:spcAft>
              <a:buNone/>
            </a:pPr>
            <a:r>
              <a:rPr lang="en" sz="1900"/>
              <a:t> </a:t>
            </a:r>
            <a:endParaRPr sz="1900"/>
          </a:p>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type="ctrTitle"/>
          </p:nvPr>
        </p:nvSpPr>
        <p:spPr>
          <a:xfrm>
            <a:off x="3108525" y="292525"/>
            <a:ext cx="5017500" cy="46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200"/>
              <a:t>Impact</a:t>
            </a:r>
            <a:endParaRPr b="1" sz="3200"/>
          </a:p>
          <a:p>
            <a:pPr indent="0" lvl="0" marL="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What is the impact of that outcome?</a:t>
            </a:r>
            <a:endParaRPr sz="1900"/>
          </a:p>
          <a:p>
            <a:pPr indent="0" lvl="0" marL="45720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E</a:t>
            </a:r>
            <a:r>
              <a:rPr lang="en" sz="1900"/>
              <a:t>xplain</a:t>
            </a:r>
            <a:r>
              <a:rPr lang="en" sz="1900"/>
              <a:t> why your judges should care about your argument</a:t>
            </a:r>
            <a:endParaRPr sz="1900"/>
          </a:p>
          <a:p>
            <a:pPr indent="0" lvl="0" marL="45720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Humanize your argument down to life/quality of life</a:t>
            </a:r>
            <a:endParaRPr sz="1900"/>
          </a:p>
          <a:p>
            <a:pPr indent="0" lvl="0" marL="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Connect to your judges: show how the average American is affected </a:t>
            </a:r>
            <a:endParaRPr sz="1900"/>
          </a:p>
          <a:p>
            <a:pPr indent="0" lvl="0" marL="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Multiple impacts is fine: they just all have to stem from same premise</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b="1" sz="3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type="ctrTitle"/>
          </p:nvPr>
        </p:nvSpPr>
        <p:spPr>
          <a:xfrm>
            <a:off x="3081900" y="462250"/>
            <a:ext cx="5801100" cy="403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3200"/>
              <a:t>Impact Example</a:t>
            </a:r>
            <a:endParaRPr b="1" sz="3200"/>
          </a:p>
          <a:p>
            <a:pPr indent="0" lvl="0" marL="0" rtl="0" algn="l">
              <a:spcBef>
                <a:spcPts val="0"/>
              </a:spcBef>
              <a:spcAft>
                <a:spcPts val="0"/>
              </a:spcAft>
              <a:buClr>
                <a:schemeClr val="lt1"/>
              </a:buClr>
              <a:buSzPts val="1100"/>
              <a:buFont typeface="Arial"/>
              <a:buNone/>
            </a:pPr>
            <a:r>
              <a:t/>
            </a:r>
            <a:endParaRPr b="1" sz="1900"/>
          </a:p>
          <a:p>
            <a:pPr indent="0" lvl="0" marL="0" rtl="0" algn="l">
              <a:spcBef>
                <a:spcPts val="0"/>
              </a:spcBef>
              <a:spcAft>
                <a:spcPts val="0"/>
              </a:spcAft>
              <a:buNone/>
            </a:pPr>
            <a:r>
              <a:rPr lang="en" sz="1900">
                <a:highlight>
                  <a:srgbClr val="00FF00"/>
                </a:highlight>
              </a:rPr>
              <a:t>Ultimately, when low-income Americans no longer have to make the choice between being overworked and exhausted or underpaid and malnourished, it can be life saving. </a:t>
            </a:r>
            <a:r>
              <a:rPr lang="en" sz="1900">
                <a:solidFill>
                  <a:srgbClr val="000000"/>
                </a:solidFill>
                <a:highlight>
                  <a:srgbClr val="FF9900"/>
                </a:highlight>
              </a:rPr>
              <a:t>The American Journal of Public Health confirms this in March 2016,</a:t>
            </a:r>
            <a:r>
              <a:rPr lang="en" sz="1900"/>
              <a:t> </a:t>
            </a:r>
            <a:r>
              <a:rPr lang="en" sz="1900">
                <a:highlight>
                  <a:srgbClr val="00FF00"/>
                </a:highlight>
              </a:rPr>
              <a:t>finding that a $15 minimum wage would have prevented 1,400 annual premature deaths in NEW YORK CITY ALONE. </a:t>
            </a:r>
            <a:r>
              <a:rPr lang="en" sz="1900">
                <a:solidFill>
                  <a:srgbClr val="000000"/>
                </a:solidFill>
                <a:highlight>
                  <a:srgbClr val="00FF00"/>
                </a:highlight>
              </a:rPr>
              <a:t>If you recognize the stories suffered in that statistic, make sure you say it with your vote. </a:t>
            </a:r>
            <a:endParaRPr sz="1900">
              <a:solidFill>
                <a:srgbClr val="000000"/>
              </a:solidFill>
              <a:highlight>
                <a:srgbClr val="00FF00"/>
              </a:highlight>
            </a:endParaRPr>
          </a:p>
          <a:p>
            <a:pPr indent="0" lvl="0" marL="45720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914400" rtl="0" algn="l">
              <a:spcBef>
                <a:spcPts val="0"/>
              </a:spcBef>
              <a:spcAft>
                <a:spcPts val="0"/>
              </a:spcAft>
              <a:buNone/>
            </a:pPr>
            <a:r>
              <a:t/>
            </a:r>
            <a:endParaRPr sz="1900"/>
          </a:p>
          <a:p>
            <a:pPr indent="0" lvl="0" marL="457200" rtl="0" algn="l">
              <a:spcBef>
                <a:spcPts val="0"/>
              </a:spcBef>
              <a:spcAft>
                <a:spcPts val="0"/>
              </a:spcAft>
              <a:buNone/>
            </a:pPr>
            <a:r>
              <a:t/>
            </a:r>
            <a:endParaRPr sz="1900"/>
          </a:p>
          <a:p>
            <a:pPr indent="0" lvl="0" marL="457200" rtl="0" algn="l">
              <a:spcBef>
                <a:spcPts val="0"/>
              </a:spcBef>
              <a:spcAft>
                <a:spcPts val="0"/>
              </a:spcAft>
              <a:buClr>
                <a:schemeClr val="lt1"/>
              </a:buClr>
              <a:buSzPts val="1100"/>
              <a:buFont typeface="Arial"/>
              <a:buNone/>
            </a:pPr>
            <a:r>
              <a:t/>
            </a:r>
            <a:endParaRPr sz="1900"/>
          </a:p>
          <a:p>
            <a:pPr indent="0" lvl="0" marL="457200" rtl="0" algn="l">
              <a:spcBef>
                <a:spcPts val="0"/>
              </a:spcBef>
              <a:spcAft>
                <a:spcPts val="0"/>
              </a:spcAft>
              <a:buNone/>
            </a:pPr>
            <a:r>
              <a:rPr lang="en" sz="1900"/>
              <a:t> </a:t>
            </a:r>
            <a:endParaRPr sz="1900"/>
          </a:p>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type="ctrTitle"/>
          </p:nvPr>
        </p:nvSpPr>
        <p:spPr>
          <a:xfrm>
            <a:off x="3496825" y="297550"/>
            <a:ext cx="5017500" cy="459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t>Example: </a:t>
            </a:r>
            <a:r>
              <a:rPr b="1" lang="en" sz="3000" u="sng">
                <a:solidFill>
                  <a:schemeClr val="hlink"/>
                </a:solidFill>
                <a:hlinkClick r:id="rId3"/>
              </a:rPr>
              <a:t>Tyler Luu 2023 National Finals</a:t>
            </a:r>
            <a:endParaRPr b="1" sz="3000"/>
          </a:p>
          <a:p>
            <a:pPr indent="0" lvl="0" marL="0" rtl="0" algn="l">
              <a:spcBef>
                <a:spcPts val="0"/>
              </a:spcBef>
              <a:spcAft>
                <a:spcPts val="0"/>
              </a:spcAft>
              <a:buNone/>
            </a:pPr>
            <a:r>
              <a:t/>
            </a:r>
            <a:endParaRPr/>
          </a:p>
          <a:p>
            <a:pPr indent="0" lvl="0" marL="0" rtl="0" algn="l">
              <a:spcBef>
                <a:spcPts val="0"/>
              </a:spcBef>
              <a:spcAft>
                <a:spcPts val="0"/>
              </a:spcAft>
              <a:buNone/>
            </a:pPr>
            <a:r>
              <a:rPr lang="en" sz="2400"/>
              <a:t>7:22</a:t>
            </a:r>
            <a:endParaRPr sz="2400"/>
          </a:p>
          <a:p>
            <a:pPr indent="-355600" lvl="0" marL="457200" rtl="0" algn="l">
              <a:spcBef>
                <a:spcPts val="0"/>
              </a:spcBef>
              <a:spcAft>
                <a:spcPts val="0"/>
              </a:spcAft>
              <a:buSzPts val="2000"/>
              <a:buChar char="●"/>
            </a:pPr>
            <a:r>
              <a:rPr lang="en" sz="2000"/>
              <a:t>Identify the Status Quo, Action, Outcome, and Impact of the Qualified Immunity speech</a:t>
            </a:r>
            <a:endParaRPr sz="20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type="ctrTitle"/>
          </p:nvPr>
        </p:nvSpPr>
        <p:spPr>
          <a:xfrm>
            <a:off x="3108525" y="292525"/>
            <a:ext cx="5017500" cy="46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200"/>
              <a:t>Qualified Immunity</a:t>
            </a:r>
            <a:endParaRPr b="1" sz="3200"/>
          </a:p>
          <a:p>
            <a:pPr indent="0" lvl="0" marL="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SQUO: Training in barely any states + fatal police interactions happen with suspects that aren’t armed</a:t>
            </a:r>
            <a:endParaRPr sz="1900"/>
          </a:p>
          <a:p>
            <a:pPr indent="0" lvl="0" marL="45720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ACTION: Remove qualified immunity</a:t>
            </a:r>
            <a:endParaRPr sz="1900"/>
          </a:p>
          <a:p>
            <a:pPr indent="0" lvl="0" marL="45720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OUTCOME: </a:t>
            </a:r>
            <a:r>
              <a:rPr lang="en" sz="1900"/>
              <a:t>De-escalation</a:t>
            </a:r>
            <a:r>
              <a:rPr lang="en" sz="1900"/>
              <a:t> training</a:t>
            </a:r>
            <a:endParaRPr sz="1900"/>
          </a:p>
          <a:p>
            <a:pPr indent="0" lvl="0" marL="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Impact: Safer for law enforcement + community</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b="1" sz="3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type="ctrTitle"/>
          </p:nvPr>
        </p:nvSpPr>
        <p:spPr>
          <a:xfrm>
            <a:off x="3108525" y="292525"/>
            <a:ext cx="5017500" cy="46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200"/>
              <a:t>Key Notes:</a:t>
            </a:r>
            <a:endParaRPr b="1" sz="3200"/>
          </a:p>
          <a:p>
            <a:pPr indent="0" lvl="0" marL="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The Block Format is ONE ARGUMENT </a:t>
            </a:r>
            <a:endParaRPr sz="1900"/>
          </a:p>
          <a:p>
            <a:pPr indent="0" lvl="0" marL="45720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Every single block should interact with each other - it’s like an extended link chain to make </a:t>
            </a:r>
            <a:r>
              <a:rPr lang="en" sz="1900"/>
              <a:t>an</a:t>
            </a:r>
            <a:r>
              <a:rPr lang="en" sz="1900"/>
              <a:t> argument</a:t>
            </a:r>
            <a:endParaRPr sz="1900"/>
          </a:p>
          <a:p>
            <a:pPr indent="0" lvl="0" marL="457200" rtl="0" algn="l">
              <a:spcBef>
                <a:spcPts val="0"/>
              </a:spcBef>
              <a:spcAft>
                <a:spcPts val="0"/>
              </a:spcAft>
              <a:buNone/>
            </a:pPr>
            <a:r>
              <a:t/>
            </a:r>
            <a:endParaRPr sz="1900"/>
          </a:p>
          <a:p>
            <a:pPr indent="-349250" lvl="0" marL="457200" rtl="0" algn="l">
              <a:spcBef>
                <a:spcPts val="0"/>
              </a:spcBef>
              <a:spcAft>
                <a:spcPts val="0"/>
              </a:spcAft>
              <a:buSzPts val="1900"/>
              <a:buAutoNum type="arabicPeriod"/>
            </a:pPr>
            <a:r>
              <a:rPr lang="en" sz="1900"/>
              <a:t>What makes the block format so special is that is goes in depth into an argument - don’t use the block format to make </a:t>
            </a:r>
            <a:r>
              <a:rPr lang="en" sz="1900"/>
              <a:t>multiple</a:t>
            </a:r>
            <a:r>
              <a:rPr lang="en" sz="1900"/>
              <a:t> arguments</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b="1" sz="3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type="ctrTitle"/>
          </p:nvPr>
        </p:nvSpPr>
        <p:spPr>
          <a:xfrm>
            <a:off x="3108525" y="292525"/>
            <a:ext cx="5017500" cy="46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200"/>
              <a:t>Let’s Talk about Pre-Req’s</a:t>
            </a:r>
            <a:endParaRPr b="1" sz="3200"/>
          </a:p>
          <a:p>
            <a:pPr indent="0" lvl="0" marL="0" rtl="0" algn="l">
              <a:spcBef>
                <a:spcPts val="0"/>
              </a:spcBef>
              <a:spcAft>
                <a:spcPts val="0"/>
              </a:spcAft>
              <a:buNone/>
            </a:pPr>
            <a:r>
              <a:t/>
            </a:r>
            <a:endParaRPr b="1" sz="3200"/>
          </a:p>
          <a:p>
            <a:pPr indent="-349250" lvl="0" marL="457200" rtl="0" algn="l">
              <a:spcBef>
                <a:spcPts val="0"/>
              </a:spcBef>
              <a:spcAft>
                <a:spcPts val="0"/>
              </a:spcAft>
              <a:buSzPts val="1900"/>
              <a:buChar char="●"/>
            </a:pPr>
            <a:r>
              <a:rPr lang="en" sz="1900"/>
              <a:t>First thing after your intro</a:t>
            </a:r>
            <a:endParaRPr sz="1900"/>
          </a:p>
          <a:p>
            <a:pPr indent="-349250" lvl="0" marL="457200" rtl="0" algn="l">
              <a:spcBef>
                <a:spcPts val="0"/>
              </a:spcBef>
              <a:spcAft>
                <a:spcPts val="0"/>
              </a:spcAft>
              <a:buSzPts val="1900"/>
              <a:buChar char="●"/>
            </a:pPr>
            <a:r>
              <a:rPr lang="en" sz="1900"/>
              <a:t>Clear up assumptions, summarize the debate, provide an overview for your speech</a:t>
            </a:r>
            <a:endParaRPr sz="1900"/>
          </a:p>
          <a:p>
            <a:pPr indent="-349250" lvl="0" marL="457200" rtl="0" algn="l">
              <a:spcBef>
                <a:spcPts val="0"/>
              </a:spcBef>
              <a:spcAft>
                <a:spcPts val="0"/>
              </a:spcAft>
              <a:buSzPts val="1900"/>
              <a:buChar char="●"/>
            </a:pPr>
            <a:r>
              <a:rPr lang="en" sz="1900"/>
              <a:t>Ex: "Everyone on my side has focused on _______, but they've ignored the most important thing in the round Sen. ____ brought up in the second cycle that answers every single negation question." (VERY BASIC)</a:t>
            </a:r>
            <a:endParaRPr sz="1900"/>
          </a:p>
          <a:p>
            <a:pPr indent="0" lvl="0" marL="0" rtl="0" algn="l">
              <a:spcBef>
                <a:spcPts val="0"/>
              </a:spcBef>
              <a:spcAft>
                <a:spcPts val="0"/>
              </a:spcAft>
              <a:buNone/>
            </a:pPr>
            <a:r>
              <a:t/>
            </a:r>
            <a:endParaRPr sz="32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b="1" sz="3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type="ctrTitle"/>
          </p:nvPr>
        </p:nvSpPr>
        <p:spPr>
          <a:xfrm>
            <a:off x="3496825" y="297550"/>
            <a:ext cx="5017500" cy="459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t>Example: </a:t>
            </a:r>
            <a:r>
              <a:rPr b="1" lang="en" sz="3000" u="sng">
                <a:solidFill>
                  <a:schemeClr val="hlink"/>
                </a:solidFill>
                <a:hlinkClick r:id="rId3"/>
              </a:rPr>
              <a:t>Rohit Jhawar 2020 TOC Finals</a:t>
            </a:r>
            <a:endParaRPr b="1" sz="3000"/>
          </a:p>
          <a:p>
            <a:pPr indent="0" lvl="0" marL="0" rtl="0" algn="l">
              <a:spcBef>
                <a:spcPts val="0"/>
              </a:spcBef>
              <a:spcAft>
                <a:spcPts val="0"/>
              </a:spcAft>
              <a:buNone/>
            </a:pPr>
            <a:r>
              <a:t/>
            </a:r>
            <a:endParaRPr/>
          </a:p>
          <a:p>
            <a:pPr indent="-355600" lvl="0" marL="457200" rtl="0" algn="l">
              <a:spcBef>
                <a:spcPts val="0"/>
              </a:spcBef>
              <a:spcAft>
                <a:spcPts val="0"/>
              </a:spcAft>
              <a:buSzPts val="2000"/>
              <a:buChar char="●"/>
            </a:pPr>
            <a:r>
              <a:rPr lang="en" sz="2000"/>
              <a:t>What did he do with his pre-req? </a:t>
            </a:r>
            <a:endParaRPr sz="2000"/>
          </a:p>
          <a:p>
            <a:pPr indent="0" lvl="0" marL="0" rtl="0" algn="l">
              <a:spcBef>
                <a:spcPts val="0"/>
              </a:spcBef>
              <a:spcAft>
                <a:spcPts val="0"/>
              </a:spcAft>
              <a:buNone/>
            </a:pPr>
            <a:r>
              <a:t/>
            </a:r>
            <a:endParaRPr/>
          </a:p>
          <a:p>
            <a:pPr indent="0" lvl="0" marL="0" rtl="0" algn="l">
              <a:spcBef>
                <a:spcPts val="0"/>
              </a:spcBef>
              <a:spcAft>
                <a:spcPts val="0"/>
              </a:spcAft>
              <a:buNone/>
            </a:pPr>
            <a:r>
              <a:rPr lang="en" sz="2400"/>
              <a:t>2:28</a:t>
            </a:r>
            <a:endParaRPr sz="24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scend Format">
  <a:themeElements>
    <a:clrScheme name="Focus">
      <a:dk1>
        <a:srgbClr val="1B212C"/>
      </a:dk1>
      <a:lt1>
        <a:srgbClr val="000000"/>
      </a:lt1>
      <a:dk2>
        <a:srgbClr val="D9D9D9"/>
      </a:dk2>
      <a:lt2>
        <a:srgbClr val="AD3033"/>
      </a:lt2>
      <a:accent1>
        <a:srgbClr val="000000"/>
      </a:accent1>
      <a:accent2>
        <a:srgbClr val="000000"/>
      </a:accent2>
      <a:accent3>
        <a:srgbClr val="AD3033"/>
      </a:accent3>
      <a:accent4>
        <a:srgbClr val="FFFFFF"/>
      </a:accent4>
      <a:accent5>
        <a:srgbClr val="999999"/>
      </a:accent5>
      <a:accent6>
        <a:srgbClr val="CCCCCC"/>
      </a:accent6>
      <a:hlink>
        <a:srgbClr val="AD3033"/>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