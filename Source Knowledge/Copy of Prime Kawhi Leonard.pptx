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b959ef1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b959ef1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b959ef1a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b959ef1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b959ef1a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b959ef1a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81ccb7ae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81ccb7a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79abd0762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79abd0762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b959ef1a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eb959ef1a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b959ef1a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b959ef1a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b959ef1a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b959ef1a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abd0762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abd0762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UVZmeic00ceiPb3rs6b6MG3QoH_tzAKK/view?usp=sharing" TargetMode="External"/><Relationship Id="rId4" Type="http://schemas.openxmlformats.org/officeDocument/2006/relationships/hyperlink" Target="https://vimeo.com/963910784/dc9793800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Defense Offense</a:t>
            </a:r>
            <a:endParaRPr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What is Defense-Offense?</a:t>
            </a:r>
            <a:endParaRPr sz="4100"/>
          </a:p>
        </p:txBody>
      </p:sp>
      <p:sp>
        <p:nvSpPr>
          <p:cNvPr id="152" name="Google Shape;152;p1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Defense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Reasons why </a:t>
            </a:r>
            <a:r>
              <a:rPr b="1" lang="en" sz="1500"/>
              <a:t>NOT </a:t>
            </a:r>
            <a:r>
              <a:rPr lang="en" sz="1500"/>
              <a:t>to vote for the other side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Refutations, framing, weighing, etc that all weaken the opposition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Respond to arguments that </a:t>
            </a:r>
            <a:r>
              <a:rPr lang="en" sz="1500"/>
              <a:t>preemptively</a:t>
            </a:r>
            <a:r>
              <a:rPr lang="en" sz="1500"/>
              <a:t> harm yours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is the most </a:t>
            </a:r>
            <a:r>
              <a:rPr lang="en" sz="1500"/>
              <a:t>important</a:t>
            </a:r>
            <a:r>
              <a:rPr lang="en" sz="1500"/>
              <a:t> part of defense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Great place for off-case refutation</a:t>
            </a:r>
            <a:endParaRPr sz="1500"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Offense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Even if you </a:t>
            </a:r>
            <a:r>
              <a:rPr lang="en"/>
              <a:t>don't</a:t>
            </a:r>
            <a:r>
              <a:rPr lang="en"/>
              <a:t> know the term, you have been doing offense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should someone vote for your side?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Offense quite literally is the </a:t>
            </a:r>
            <a:r>
              <a:rPr lang="en"/>
              <a:t>argument</a:t>
            </a:r>
            <a:r>
              <a:rPr lang="en"/>
              <a:t> you are making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Mostly in outcome and impact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Defense Offense Conceptually</a:t>
            </a:r>
            <a:endParaRPr sz="3500"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strategy as well as a secondary format to the Block Structure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Typically, defense-offense is what a Block </a:t>
            </a:r>
            <a:r>
              <a:rPr lang="en" sz="1500"/>
              <a:t>Structure</a:t>
            </a:r>
            <a:r>
              <a:rPr lang="en" sz="1500"/>
              <a:t> speech becomes as the round progresses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Drop some squo, expand upon pre-req, respond to the arguments that would hurt yours, give your argument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is why defense should come first, </a:t>
            </a:r>
            <a:r>
              <a:rPr b="1" lang="en" sz="1500"/>
              <a:t>respond to any argument that prevents yours from being </a:t>
            </a:r>
            <a:r>
              <a:rPr b="1" lang="en" sz="1500"/>
              <a:t>believable</a:t>
            </a:r>
            <a:r>
              <a:rPr b="1" lang="en" sz="1500"/>
              <a:t> 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Sometimes you can prep a speech in Defense-Offense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You can do this if you find/prepare really good defense to an argument you know the other side will run 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Why Defense Offense?</a:t>
            </a:r>
            <a:endParaRPr sz="4700"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Pure ref speeches have a lot of problems: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Too many arguments, not enough time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Judges might not care about some arguments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they don’t, you don’t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Line by line is </a:t>
            </a:r>
            <a:r>
              <a:rPr b="1" lang="en" sz="1500"/>
              <a:t>REALLY </a:t>
            </a:r>
            <a:r>
              <a:rPr lang="en" sz="1500"/>
              <a:t>complicated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Pure ref doesn’t leave an opportunity for unique offense instead of just saying “my side wins because of sen x impact”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An all defense speech can win for your side, but it probably won’t be you who wins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What Goes in Defense?</a:t>
            </a:r>
            <a:endParaRPr sz="4300"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Any type of refutation or response that defends your side and your case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Any type of refutation or </a:t>
            </a:r>
            <a:r>
              <a:rPr lang="en" sz="1500"/>
              <a:t>response</a:t>
            </a:r>
            <a:r>
              <a:rPr lang="en" sz="1500"/>
              <a:t> that hits the strongest debaters on the other side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Just because something doesn’t affect your argument, that does not mean you can ignore it, if it is significant in the round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Off-case refutations (refutations that don’t tie into your case seamlessly) can be thrown in here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BUT</a:t>
            </a:r>
            <a:r>
              <a:rPr lang="en" sz="1500"/>
              <a:t> the last response in the defense block should be the one that works into your case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Off-Case Refutation</a:t>
            </a:r>
            <a:endParaRPr sz="4800"/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What do you do if the best argument on the other side doesn’t directly interact with your own?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You </a:t>
            </a:r>
            <a:r>
              <a:rPr b="1" lang="en" sz="1500"/>
              <a:t>cannot</a:t>
            </a:r>
            <a:r>
              <a:rPr lang="en" sz="1500"/>
              <a:t> just ignore it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Strong, unique one-off arguments can’t be grouped if only one person runs it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Don’t group the </a:t>
            </a:r>
            <a:r>
              <a:rPr lang="en" sz="1500"/>
              <a:t>argument just</a:t>
            </a:r>
            <a:r>
              <a:rPr lang="en" sz="1500"/>
              <a:t> for grouping sake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</a:t>
            </a:r>
            <a:r>
              <a:rPr b="1" lang="en" sz="1500"/>
              <a:t>still</a:t>
            </a:r>
            <a:r>
              <a:rPr lang="en" sz="1500"/>
              <a:t> goes in the defense portion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Put this at the top of the defense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“Sen x gives us the best argument on their side…” and then respond to it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You might need to do line by line, but if it’s only on one person/argument the speech won’t get too muddy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Prepared Defense-Offense</a:t>
            </a:r>
            <a:endParaRPr sz="4000"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is not a super common format, so don’t just spam it and be like “I prepped defense-offense”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Prepared defense-offense requires you to be 100% </a:t>
            </a:r>
            <a:r>
              <a:rPr lang="en" sz="1500"/>
              <a:t>confident</a:t>
            </a:r>
            <a:r>
              <a:rPr lang="en" sz="1500"/>
              <a:t> in how a round will go and 100% sure that your response will be bought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best prepared defense will usually be an attempt at reframing the narrative of the debate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strategy tends to be the most </a:t>
            </a:r>
            <a:r>
              <a:rPr lang="en" sz="1500"/>
              <a:t>effective</a:t>
            </a:r>
            <a:r>
              <a:rPr lang="en" sz="1500"/>
              <a:t> at making judges disregard certain arguments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Prepared defense-offense is not extremely responsive, rather it is a </a:t>
            </a:r>
            <a:r>
              <a:rPr lang="en" sz="1500"/>
              <a:t>holistic</a:t>
            </a:r>
            <a:r>
              <a:rPr lang="en" sz="1500"/>
              <a:t> refutation to the entire opposing side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Adapted Defense-Offense</a:t>
            </a:r>
            <a:endParaRPr sz="4100"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 every round before you speak, you should be slowly </a:t>
            </a:r>
            <a:r>
              <a:rPr lang="en" sz="1500"/>
              <a:t>turning</a:t>
            </a:r>
            <a:r>
              <a:rPr lang="en" sz="1500"/>
              <a:t> your speech into this: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Don’t do pure ref speeches, group arguments based on </a:t>
            </a:r>
            <a:r>
              <a:rPr lang="en" sz="1500"/>
              <a:t>similarities</a:t>
            </a:r>
            <a:r>
              <a:rPr lang="en" sz="1500"/>
              <a:t> 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Refuting the best opponents is always ideal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Defense portion should be a defense of your entire side but,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Prioritize everything that harms your argument</a:t>
            </a:r>
            <a:endParaRPr b="1"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Judges won’t buy your argument otherwise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Always be listening for the most important question in the round, your job is to answer it for your side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Ideally you are using fresh analysis from your original prepared speech to address the other side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How Should Defense-Offense Look?</a:t>
            </a:r>
            <a:endParaRPr sz="2900"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Intro, obviously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Separate yourself from the other later speakers, this is your pre-req but expanded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With the round grouped, hit the grouped arguments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Ideally the content from your constructive can be used to explain/tie everything together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IF</a:t>
            </a:r>
            <a:r>
              <a:rPr lang="en" sz="1500"/>
              <a:t> a really good argument can’t be grouped you might have to do a little bit of line by line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Hopefully your outcome and impact </a:t>
            </a:r>
            <a:r>
              <a:rPr lang="en" sz="1500"/>
              <a:t>haven't</a:t>
            </a:r>
            <a:r>
              <a:rPr lang="en" sz="1500"/>
              <a:t> been completely taken because otherwise you need new offense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Conclusion, obviously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EXAMPLE SPEECH</a:t>
            </a:r>
            <a:endParaRPr sz="4700"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Aditya Defense Offense Gambling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Adrian Defense Offense Medicare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