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at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0a66b1d6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0a66b1d6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015cd80f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015cd80f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76d40de1d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76d40de1d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785f1e426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785f1e426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76d40de1d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76d40de1d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76d40de1d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76d40de1d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76d40de1d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76d40de1d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d40de1d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76d40de1d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78673c73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78673c73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78673c733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78673c733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76d40de1d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76d40de1d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76d40de1d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76d40de1d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76d40de1d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76d40de1d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ebcaabca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ebcaabca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4" name="Google Shape;44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" name="Google Shape;49;p4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5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 txBox="1"/>
          <p:nvPr>
            <p:ph idx="1" type="body"/>
          </p:nvPr>
        </p:nvSpPr>
        <p:spPr>
          <a:xfrm>
            <a:off x="4933196" y="1625575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138294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1" name="Google Shape;61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" name="Google Shape;6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6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8" name="Google Shape;68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1297500" y="136380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7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6" name="Google Shape;76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8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9" name="Google Shape;99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3" name="Google Shape;103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9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0"/>
          <p:cNvGrpSpPr/>
          <p:nvPr/>
        </p:nvGrpSpPr>
        <p:grpSpPr>
          <a:xfrm>
            <a:off x="40600" y="3640247"/>
            <a:ext cx="698925" cy="684657"/>
            <a:chOff x="0" y="3785672"/>
            <a:chExt cx="698925" cy="684657"/>
          </a:xfrm>
        </p:grpSpPr>
        <p:sp>
          <p:nvSpPr>
            <p:cNvPr id="108" name="Google Shape;108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0"/>
          <p:cNvSpPr txBox="1"/>
          <p:nvPr>
            <p:ph idx="1" type="body"/>
          </p:nvPr>
        </p:nvSpPr>
        <p:spPr>
          <a:xfrm>
            <a:off x="804625" y="380110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pic>
        <p:nvPicPr>
          <p:cNvPr id="111" name="Google Shape;111;p10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4" name="Google Shape;114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3" name="Google Shape;133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11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338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55825" y="1398187"/>
            <a:ext cx="3232351" cy="23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Effective Constructive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What is Construction in Congress?</a:t>
            </a:r>
            <a:endParaRPr sz="3100"/>
          </a:p>
        </p:txBody>
      </p:sp>
      <p:sp>
        <p:nvSpPr>
          <p:cNvPr id="152" name="Google Shape;152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Everyone kinda just has an idea of what constructive speeches or arguments are in debate, but it’s not really taught as a concept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This lecture will explain some of the reasons why constructive/early speeches tend to be so effective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Early speaking </a:t>
            </a:r>
            <a:r>
              <a:rPr b="1" lang="en" sz="1500"/>
              <a:t>is easier</a:t>
            </a:r>
            <a:r>
              <a:rPr lang="en"/>
              <a:t> </a:t>
            </a:r>
            <a:r>
              <a:rPr lang="en" sz="1500"/>
              <a:t>but it is not the </a:t>
            </a:r>
            <a:r>
              <a:rPr b="1" lang="en" sz="1500"/>
              <a:t>only </a:t>
            </a:r>
            <a:r>
              <a:rPr lang="en" sz="1500"/>
              <a:t>way to succeed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Many of the strategies used in constructive speeches </a:t>
            </a:r>
            <a:r>
              <a:rPr b="1" lang="en" sz="1500"/>
              <a:t>should </a:t>
            </a:r>
            <a:r>
              <a:rPr lang="en" sz="1500"/>
              <a:t>be incorporated </a:t>
            </a:r>
            <a:r>
              <a:rPr lang="en" sz="1500"/>
              <a:t>throughout the round</a:t>
            </a:r>
            <a:r>
              <a:rPr lang="en" sz="1500"/>
              <a:t> but often aren’t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Optimizing Construction</a:t>
            </a:r>
            <a:endParaRPr sz="4200"/>
          </a:p>
        </p:txBody>
      </p:sp>
      <p:sp>
        <p:nvSpPr>
          <p:cNvPr id="158" name="Google Shape;158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Build your side’s advocacy in terms of your win-con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 constructive speech does not mean a basic, surface level argument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Round winning framing can come as early as the first speech</a:t>
            </a:r>
            <a:endParaRPr sz="1500"/>
          </a:p>
          <a:p>
            <a:pPr indent="-3238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In a perfect round, there would be no need to “reframe” anything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Being mentioned a bunch of times does not automatically mean you are doing a good job if the argument was so basic </a:t>
            </a:r>
            <a:r>
              <a:rPr lang="en" sz="1500"/>
              <a:t>it's</a:t>
            </a:r>
            <a:r>
              <a:rPr lang="en" sz="1500"/>
              <a:t> getting torn up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Speaking early is not an excuse to ignore the comparative or win-conditions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Block Format in the Early Round </a:t>
            </a:r>
            <a:endParaRPr sz="3300"/>
          </a:p>
        </p:txBody>
      </p:sp>
      <p:sp>
        <p:nvSpPr>
          <p:cNvPr id="164" name="Google Shape;164;p17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 a way, </a:t>
            </a:r>
            <a:r>
              <a:rPr lang="en" sz="1800"/>
              <a:t>Block</a:t>
            </a:r>
            <a:r>
              <a:rPr lang="en" sz="1800"/>
              <a:t> Format was originally designed for early speeches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Cycles 2-4 is where it really shines without modification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 sz="1800"/>
              <a:t>BUT </a:t>
            </a:r>
            <a:r>
              <a:rPr lang="en" sz="1800"/>
              <a:t>Rohit won nats with 13th speech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Why is it Effective Early?</a:t>
            </a:r>
            <a:endParaRPr sz="4400"/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Your judges usually don’t know much about the topics, Block Format is very easy to follow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early round is for building context and the squo, Block Format </a:t>
            </a:r>
            <a:r>
              <a:rPr lang="en" sz="1500"/>
              <a:t>excels</a:t>
            </a:r>
            <a:r>
              <a:rPr lang="en" sz="1500"/>
              <a:t> at both of these 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There is also a confidence factor, where prepared content will usually make a debater more confident than something they are extemping or creating in round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Confidence = better performance = better results 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Simplicity and Explanation are the Key to Success</a:t>
            </a:r>
            <a:endParaRPr sz="3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idx="1" type="body"/>
          </p:nvPr>
        </p:nvSpPr>
        <p:spPr>
          <a:xfrm>
            <a:off x="4933200" y="770850"/>
            <a:ext cx="3696300" cy="38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/>
              <a:t>Warranting</a:t>
            </a:r>
            <a:endParaRPr b="1" sz="1800" u="sng"/>
          </a:p>
          <a:p>
            <a:pPr indent="-32385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Cards do not eliminate the need for a warrant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Cards will say that something is true, oftentimes not </a:t>
            </a:r>
            <a:r>
              <a:rPr b="1" lang="en" sz="1500"/>
              <a:t>why </a:t>
            </a:r>
            <a:r>
              <a:rPr b="1" lang="en" sz="1500"/>
              <a:t>it's</a:t>
            </a:r>
            <a:r>
              <a:rPr b="1" lang="en" sz="1500"/>
              <a:t> true</a:t>
            </a:r>
            <a:endParaRPr b="1"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1" lang="en" sz="1500"/>
              <a:t>Make sure judges know why</a:t>
            </a:r>
            <a:endParaRPr b="1"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Trust your intuition, oftentimes the first warrant you think of is the simplest one</a:t>
            </a:r>
            <a:endParaRPr sz="1500"/>
          </a:p>
        </p:txBody>
      </p:sp>
      <p:sp>
        <p:nvSpPr>
          <p:cNvPr id="181" name="Google Shape;181;p20"/>
          <p:cNvSpPr txBox="1"/>
          <p:nvPr>
            <p:ph idx="2" type="body"/>
          </p:nvPr>
        </p:nvSpPr>
        <p:spPr>
          <a:xfrm>
            <a:off x="1089825" y="770850"/>
            <a:ext cx="3696300" cy="38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/>
              <a:t>Wording</a:t>
            </a:r>
            <a:endParaRPr b="1" sz="1800" u="sng"/>
          </a:p>
          <a:p>
            <a:pPr indent="-32385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DO NOT USE WORDS YOU </a:t>
            </a:r>
            <a:r>
              <a:rPr b="1" lang="en" sz="1500" u="sng"/>
              <a:t>WOULD NOT USE IN DAILY CONVERSATION</a:t>
            </a:r>
            <a:endParaRPr b="1" sz="1500" u="sng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Pretend you need to explain Saudi Arabian arms trades or Carbon Taxes to 5th graders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Wording</a:t>
            </a:r>
            <a:endParaRPr sz="4500"/>
          </a:p>
        </p:txBody>
      </p:sp>
      <p:sp>
        <p:nvSpPr>
          <p:cNvPr id="187" name="Google Shape;187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No such thing as objectively perfect wording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There's</a:t>
            </a:r>
            <a:r>
              <a:rPr lang="en" sz="1500"/>
              <a:t> words to definitely </a:t>
            </a:r>
            <a:r>
              <a:rPr lang="en" sz="1500"/>
              <a:t>avoid, but not necessarily a list of words you have to use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Don’t use flow terms, i.e. things you only hear said in policy or LD but normal people won’t use them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Simple and concise wording gives the judge less reasons to tune out of your speech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wording </a:t>
            </a:r>
            <a:r>
              <a:rPr b="1" lang="en" sz="1500"/>
              <a:t>you use</a:t>
            </a:r>
            <a:r>
              <a:rPr lang="en" sz="1500"/>
              <a:t> when talking normally is what you should use in this event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Natural wording will always make you sound better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Warranting</a:t>
            </a:r>
            <a:endParaRPr sz="4200"/>
          </a:p>
        </p:txBody>
      </p:sp>
      <p:sp>
        <p:nvSpPr>
          <p:cNvPr id="193" name="Google Shape;193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Simply put, </a:t>
            </a:r>
            <a:r>
              <a:rPr b="1" lang="en" sz="1500"/>
              <a:t>why</a:t>
            </a:r>
            <a:r>
              <a:rPr lang="en" sz="1500"/>
              <a:t> is something in your argument true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Once again, ask why until you can’t anymore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Make sure your cards have warrants, </a:t>
            </a:r>
            <a:r>
              <a:rPr lang="en" sz="1500"/>
              <a:t>especially</a:t>
            </a:r>
            <a:r>
              <a:rPr lang="en" sz="1500"/>
              <a:t> when you are responding to other arguments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Warrants can be used in place of some cards when the premise is intuitive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This doesn’t mean you don’t need to use any cards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Warrants are most effective when something is </a:t>
            </a:r>
            <a:r>
              <a:rPr lang="en" sz="1500"/>
              <a:t>basically a fact </a:t>
            </a:r>
            <a:endParaRPr sz="1500"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What About Sponsorships?</a:t>
            </a:r>
            <a:endParaRPr sz="3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People are Scared of Sponsoring</a:t>
            </a:r>
            <a:endParaRPr sz="3300"/>
          </a:p>
        </p:txBody>
      </p:sp>
      <p:sp>
        <p:nvSpPr>
          <p:cNvPr id="204" name="Google Shape;204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Despite being one of the easiest speeches to give, debaters rarely want to sponsor unless they have terrible recency or a final appeal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Sponsors literally have a free pass to not change their argument </a:t>
            </a:r>
            <a:r>
              <a:rPr b="1" lang="en" sz="1500"/>
              <a:t>AT ALL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While the Block Format is </a:t>
            </a:r>
            <a:r>
              <a:rPr lang="en" sz="1500"/>
              <a:t>structured</a:t>
            </a:r>
            <a:r>
              <a:rPr lang="en" sz="1500"/>
              <a:t> similarly to an ideal sponsorship speech, there are some small </a:t>
            </a:r>
            <a:r>
              <a:rPr lang="en" sz="1500"/>
              <a:t>changes</a:t>
            </a:r>
            <a:r>
              <a:rPr lang="en" sz="1500"/>
              <a:t> that should be made</a:t>
            </a:r>
            <a:endParaRPr sz="1500"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500"/>
              <a:t> 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How to be a Relevant Sponsor</a:t>
            </a:r>
            <a:endParaRPr sz="3500"/>
          </a:p>
        </p:txBody>
      </p:sp>
      <p:sp>
        <p:nvSpPr>
          <p:cNvPr id="210" name="Google Shape;210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From the Block Format, a good sponsor will spend a bit more time on the squo and a bit less on the outcome/impact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Instead of “this legislation” it is now “my legislation”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Standout </a:t>
            </a:r>
            <a:r>
              <a:rPr lang="en" sz="1500"/>
              <a:t>rhetoric</a:t>
            </a:r>
            <a:r>
              <a:rPr lang="en" sz="1500"/>
              <a:t>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Make use of burdening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“In order for the neg to win this debate, they need to prove…”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This makes you relevant throughout the round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 simple and well explained </a:t>
            </a:r>
            <a:r>
              <a:rPr lang="en" sz="1500"/>
              <a:t>sponsor that can maintain relevance is a </a:t>
            </a:r>
            <a:r>
              <a:rPr b="1" lang="en" sz="1500"/>
              <a:t>very </a:t>
            </a:r>
            <a:r>
              <a:rPr lang="en" sz="1500"/>
              <a:t>solid speech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High reward-Medium risk </a:t>
            </a: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Sponsorship Checklist</a:t>
            </a:r>
            <a:endParaRPr sz="4800"/>
          </a:p>
        </p:txBody>
      </p:sp>
      <p:sp>
        <p:nvSpPr>
          <p:cNvPr id="216" name="Google Shape;216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Intro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First, explain the problem in the squo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Second, explain the legislation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Third, prove solvency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Fourth, impact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Fifth, set up a framework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Conclusion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500"/>
              <a:t>Anytime you have to give a sponsorship </a:t>
            </a:r>
            <a:r>
              <a:rPr lang="en" sz="1500"/>
              <a:t>speech</a:t>
            </a:r>
            <a:r>
              <a:rPr lang="en" sz="1500"/>
              <a:t>, make sure you have all of these things. It is very easy to modify the Block Structure into a sponsorship.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scend Format">
  <a:themeElements>
    <a:clrScheme name="Focus">
      <a:dk1>
        <a:srgbClr val="1B212C"/>
      </a:dk1>
      <a:lt1>
        <a:srgbClr val="000000"/>
      </a:lt1>
      <a:dk2>
        <a:srgbClr val="D9D9D9"/>
      </a:dk2>
      <a:lt2>
        <a:srgbClr val="AD3033"/>
      </a:lt2>
      <a:accent1>
        <a:srgbClr val="000000"/>
      </a:accent1>
      <a:accent2>
        <a:srgbClr val="000000"/>
      </a:accent2>
      <a:accent3>
        <a:srgbClr val="AD3033"/>
      </a:accent3>
      <a:accent4>
        <a:srgbClr val="FFFFFF"/>
      </a:accent4>
      <a:accent5>
        <a:srgbClr val="999999"/>
      </a:accent5>
      <a:accent6>
        <a:srgbClr val="CCCCCC"/>
      </a:accent6>
      <a:hlink>
        <a:srgbClr val="AD3033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