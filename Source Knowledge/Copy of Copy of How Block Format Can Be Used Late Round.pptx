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Montserrat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regular.fntdata"/><Relationship Id="rId22" Type="http://schemas.openxmlformats.org/officeDocument/2006/relationships/font" Target="fonts/Montserrat-italic.fntdata"/><Relationship Id="rId21" Type="http://schemas.openxmlformats.org/officeDocument/2006/relationships/font" Target="fonts/Montserrat-bold.fntdata"/><Relationship Id="rId24" Type="http://schemas.openxmlformats.org/officeDocument/2006/relationships/font" Target="fonts/Lato-regular.fntdata"/><Relationship Id="rId23" Type="http://schemas.openxmlformats.org/officeDocument/2006/relationships/font" Target="fonts/Montserrat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7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80a66b1d64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80a66b1d64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b2e481d4d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b2e481d4d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76bdda4de9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276bdda4de9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76bdda4de9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276bdda4de9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76bdda4de9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76bdda4de9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1015cd80f5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1015cd80f5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76bdda4de9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276bdda4de9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Summarize until you get to what type of debate you’re in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76bdda4de9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276bdda4de9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76bdda4de9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76bdda4de9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5a060f0e8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25a060f0e8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76bdda4de9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276bdda4de9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76bdda4de9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276bdda4de9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67b6255b9c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267b6255b9c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" name="Google Shape;18;p2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1" name="Google Shape;41;p3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oogle Shape;43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4" name="Google Shape;44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7" name="Google Shape;47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8" name="Google Shape;48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9" name="Google Shape;49;p4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2" name="Google Shape;52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4" name="Google Shape;54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6" name="Google Shape;56;p5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5"/>
          <p:cNvSpPr txBox="1"/>
          <p:nvPr>
            <p:ph idx="1" type="body"/>
          </p:nvPr>
        </p:nvSpPr>
        <p:spPr>
          <a:xfrm>
            <a:off x="4933196" y="1625575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8" name="Google Shape;58;p5"/>
          <p:cNvSpPr txBox="1"/>
          <p:nvPr>
            <p:ph idx="2" type="body"/>
          </p:nvPr>
        </p:nvSpPr>
        <p:spPr>
          <a:xfrm>
            <a:off x="1382946" y="16867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1" name="Google Shape;61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" name="Google Shape;63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4" name="Google Shape;64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5" name="Google Shape;65;p6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oogle Shape;67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8" name="Google Shape;68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0" name="Google Shape;70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1" name="Google Shape;71;p7"/>
          <p:cNvSpPr txBox="1"/>
          <p:nvPr>
            <p:ph idx="1" type="body"/>
          </p:nvPr>
        </p:nvSpPr>
        <p:spPr>
          <a:xfrm>
            <a:off x="1297500" y="136380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2" name="Google Shape;7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3" name="Google Shape;73;p7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75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6" name="Google Shape;76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4" name="Google Shape;94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5" name="Google Shape;9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6" name="Google Shape;96;p8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Google Shape;98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9" name="Google Shape;99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1" name="Google Shape;101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2" name="Google Shape;102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03" name="Google Shape;103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4" name="Google Shape;10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5" name="Google Shape;105;p9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10"/>
          <p:cNvGrpSpPr/>
          <p:nvPr/>
        </p:nvGrpSpPr>
        <p:grpSpPr>
          <a:xfrm>
            <a:off x="40600" y="3640247"/>
            <a:ext cx="698925" cy="684657"/>
            <a:chOff x="0" y="3785672"/>
            <a:chExt cx="698925" cy="684657"/>
          </a:xfrm>
        </p:grpSpPr>
        <p:sp>
          <p:nvSpPr>
            <p:cNvPr id="108" name="Google Shape;108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0" name="Google Shape;110;p10"/>
          <p:cNvSpPr txBox="1"/>
          <p:nvPr>
            <p:ph idx="1" type="body"/>
          </p:nvPr>
        </p:nvSpPr>
        <p:spPr>
          <a:xfrm>
            <a:off x="804625" y="3801100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pic>
        <p:nvPicPr>
          <p:cNvPr id="111" name="Google Shape;111;p10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14" name="Google Shape;114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2" name="Google Shape;132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33" name="Google Shape;133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5" name="Google Shape;135;p11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338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955825" y="1398187"/>
            <a:ext cx="3232351" cy="234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/>
          <p:nvPr>
            <p:ph type="ctrTitle"/>
          </p:nvPr>
        </p:nvSpPr>
        <p:spPr>
          <a:xfrm>
            <a:off x="3161000" y="1587150"/>
            <a:ext cx="54912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Block Format Late Round/Round Adaption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5"/>
          <p:cNvSpPr txBox="1"/>
          <p:nvPr>
            <p:ph type="ctrTitle"/>
          </p:nvPr>
        </p:nvSpPr>
        <p:spPr>
          <a:xfrm>
            <a:off x="3108525" y="292525"/>
            <a:ext cx="5017500" cy="460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/>
              <a:t>The 3 Keys to Speaking Late:</a:t>
            </a:r>
            <a:endParaRPr b="1" sz="3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Pre-Round Knowledge/Research</a:t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Identifying Clash Points and the Type of Debate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Integrating your speech into a round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6"/>
          <p:cNvSpPr txBox="1"/>
          <p:nvPr>
            <p:ph type="ctrTitle"/>
          </p:nvPr>
        </p:nvSpPr>
        <p:spPr>
          <a:xfrm>
            <a:off x="3527075" y="6102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82600" lvl="0" marL="457200" rtl="0" algn="l">
              <a:spcBef>
                <a:spcPts val="0"/>
              </a:spcBef>
              <a:spcAft>
                <a:spcPts val="0"/>
              </a:spcAft>
              <a:buSzPts val="4000"/>
              <a:buAutoNum type="arabicPeriod"/>
            </a:pPr>
            <a:r>
              <a:rPr lang="en"/>
              <a:t>Pre-Round Knowledge and Research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3527075" y="2924725"/>
            <a:ext cx="4992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75% of Adaptation comes from what you do before round, the other 25% comes from in round! </a:t>
            </a:r>
            <a:endParaRPr sz="2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7"/>
          <p:cNvSpPr txBox="1"/>
          <p:nvPr>
            <p:ph type="ctrTitle"/>
          </p:nvPr>
        </p:nvSpPr>
        <p:spPr>
          <a:xfrm>
            <a:off x="3108525" y="292525"/>
            <a:ext cx="5017500" cy="460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/>
              <a:t>Strategic Prepping</a:t>
            </a:r>
            <a:endParaRPr b="1" sz="3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Research Both Sides</a:t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Understand what will the stock argumentation be of each side</a:t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Think about </a:t>
            </a:r>
            <a:r>
              <a:rPr lang="en" sz="1900"/>
              <a:t>the</a:t>
            </a:r>
            <a:r>
              <a:rPr lang="en" sz="1900"/>
              <a:t> win conditions of each side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Understand the comparative</a:t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8"/>
          <p:cNvSpPr txBox="1"/>
          <p:nvPr>
            <p:ph type="ctrTitle"/>
          </p:nvPr>
        </p:nvSpPr>
        <p:spPr>
          <a:xfrm>
            <a:off x="3527075" y="6102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We’ve Identified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Pre Round</a:t>
            </a:r>
            <a:r>
              <a:rPr b="1" lang="en"/>
              <a:t> strategies</a:t>
            </a:r>
            <a:endParaRPr b="1"/>
          </a:p>
        </p:txBody>
      </p:sp>
      <p:sp>
        <p:nvSpPr>
          <p:cNvPr id="168" name="Google Shape;168;p18"/>
          <p:cNvSpPr txBox="1"/>
          <p:nvPr/>
        </p:nvSpPr>
        <p:spPr>
          <a:xfrm>
            <a:off x="3527075" y="2924725"/>
            <a:ext cx="49923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Now what do I do in round?</a:t>
            </a:r>
            <a:endParaRPr sz="4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9"/>
          <p:cNvSpPr txBox="1"/>
          <p:nvPr>
            <p:ph type="ctrTitle"/>
          </p:nvPr>
        </p:nvSpPr>
        <p:spPr>
          <a:xfrm>
            <a:off x="3081900" y="462250"/>
            <a:ext cx="5560500" cy="403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200"/>
              <a:t>Identifying Clash</a:t>
            </a:r>
            <a:endParaRPr b="1" sz="3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b="1"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Clash is any disagreement or clashing viewpoints within a debate - points of contention</a:t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Identifying clash starts with understanding the arguments of the otherside</a:t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Most of the clash will occur within the outcome of a bill </a:t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 Ex: UBI - main clash point is poverty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 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0"/>
          <p:cNvSpPr txBox="1"/>
          <p:nvPr>
            <p:ph type="ctrTitle"/>
          </p:nvPr>
        </p:nvSpPr>
        <p:spPr>
          <a:xfrm>
            <a:off x="3081900" y="462250"/>
            <a:ext cx="5560500" cy="403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200"/>
              <a:t>Type of Debates</a:t>
            </a:r>
            <a:endParaRPr b="1" sz="3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SQUO: Disagreement on what the SQUO looks like (Taiwan)</a:t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Outcome: Agree with the SQUO, disagree on the outcome (Min. Wage)</a:t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Impact: Agree with the SQUO and Outcome, disagree on the impact (SCOTUS Term Limits)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IT IS YOUR JOB TO IDENTIFY WHAT TYPE OF DEBATE IT IS + </a:t>
            </a:r>
            <a:r>
              <a:rPr lang="en" sz="1900"/>
              <a:t>FOCUS YOUR SPEECH ON SETTLING IT ONCE AND FOR ALL</a:t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 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1"/>
          <p:cNvSpPr txBox="1"/>
          <p:nvPr>
            <p:ph type="ctrTitle"/>
          </p:nvPr>
        </p:nvSpPr>
        <p:spPr>
          <a:xfrm>
            <a:off x="3081900" y="462250"/>
            <a:ext cx="5560500" cy="403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200"/>
              <a:t>Addressing Clash Points/Winning Debates</a:t>
            </a:r>
            <a:endParaRPr b="1" sz="3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b="1"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Ask yourself, what does my side need to do to win this debate? 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What has/hasn’t been said or proven?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Where have both sides failed and how can I fix that?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If I were a judge, what would I want to hear from this speech?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 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2"/>
          <p:cNvSpPr txBox="1"/>
          <p:nvPr>
            <p:ph type="ctrTitle"/>
          </p:nvPr>
        </p:nvSpPr>
        <p:spPr>
          <a:xfrm>
            <a:off x="3081900" y="462250"/>
            <a:ext cx="5560500" cy="403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200"/>
              <a:t>Two Worlds: Think about Avengers (Different Timelines vs Main Timeline)</a:t>
            </a:r>
            <a:endParaRPr b="1" sz="3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b="1"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For every debate, there will be two worlds (AFF and NEG), AKA the AFF world and the SQUO</a:t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In your speech, you have to show your judges a comparative of these two worlds - Which world do you want to live in?</a:t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 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3"/>
          <p:cNvSpPr txBox="1"/>
          <p:nvPr>
            <p:ph type="ctrTitle"/>
          </p:nvPr>
        </p:nvSpPr>
        <p:spPr>
          <a:xfrm>
            <a:off x="3081900" y="462250"/>
            <a:ext cx="5560500" cy="403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200"/>
              <a:t>Cutting Content</a:t>
            </a:r>
            <a:endParaRPr b="1" sz="3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b="1"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The later in the round you speak, the more your speech should be addressing the main clash points/the core of the debate</a:t>
            </a:r>
            <a:endParaRPr b="1"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What to cut? Any Rehash in your speech, or anything that isn’t integral to your analysis of the round 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Summarization is your friend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The Pre Req becomes more valuable the longer a round: This is where you need to be providing necessary context to the round and identifying the type of debate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 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4"/>
          <p:cNvSpPr txBox="1"/>
          <p:nvPr>
            <p:ph type="ctrTitle"/>
          </p:nvPr>
        </p:nvSpPr>
        <p:spPr>
          <a:xfrm>
            <a:off x="3081900" y="462250"/>
            <a:ext cx="5560500" cy="403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200"/>
              <a:t>Remember: Simplicity is Key</a:t>
            </a:r>
            <a:endParaRPr b="1" sz="3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b="1"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Instead of trying to respond to everything: Refutate main arguments </a:t>
            </a:r>
            <a:endParaRPr b="1"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Arial"/>
              <a:buAutoNum type="arabicPeriod"/>
            </a:pPr>
            <a:r>
              <a:rPr lang="en" sz="1900"/>
              <a:t>Group Refutations together for max efficiency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Walk your judges through everything that you’re doing: “This debate comes down to x,” “AFF world looks like this, NEG world looks like this"</a:t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 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5"/>
          <p:cNvSpPr txBox="1"/>
          <p:nvPr>
            <p:ph type="ctrTitle"/>
          </p:nvPr>
        </p:nvSpPr>
        <p:spPr>
          <a:xfrm>
            <a:off x="3081900" y="462250"/>
            <a:ext cx="5560500" cy="403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200"/>
              <a:t>Printed Speech Edits</a:t>
            </a:r>
            <a:endParaRPr b="1" sz="3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b="1"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Add a line of space between claim/card/explanation/rhetoric   </a:t>
            </a:r>
            <a:endParaRPr b="1"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Arial"/>
              <a:buAutoNum type="arabicPeriod"/>
            </a:pPr>
            <a:r>
              <a:rPr lang="en" sz="1900"/>
              <a:t>Post-its + side margins of paper are useful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At a certain point, if you’re writing a ton on your paper and it’s getting really confusing, JUST PAD YOUR REFUTATION SPEECH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 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scend Format">
  <a:themeElements>
    <a:clrScheme name="Focus">
      <a:dk1>
        <a:srgbClr val="1B212C"/>
      </a:dk1>
      <a:lt1>
        <a:srgbClr val="000000"/>
      </a:lt1>
      <a:dk2>
        <a:srgbClr val="D9D9D9"/>
      </a:dk2>
      <a:lt2>
        <a:srgbClr val="AD3033"/>
      </a:lt2>
      <a:accent1>
        <a:srgbClr val="000000"/>
      </a:accent1>
      <a:accent2>
        <a:srgbClr val="000000"/>
      </a:accent2>
      <a:accent3>
        <a:srgbClr val="AD3033"/>
      </a:accent3>
      <a:accent4>
        <a:srgbClr val="FFFFFF"/>
      </a:accent4>
      <a:accent5>
        <a:srgbClr val="999999"/>
      </a:accent5>
      <a:accent6>
        <a:srgbClr val="CCCCCC"/>
      </a:accent6>
      <a:hlink>
        <a:srgbClr val="AD3033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