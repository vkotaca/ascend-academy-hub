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2e481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2e481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81c4389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81c4389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a060f0e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a060f0e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31747931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31747931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1747931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31747931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3163a63f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3163a63f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317479319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31747931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31747931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31747931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3163a63f5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3163a63f5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317479319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317479319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317479319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317479319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a1bc20d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5a1bc20d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317479319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31747931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be016df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be016df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317479319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317479319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317479319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317479319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5a1bbe18d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5a1bbe18d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317479319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317479319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317479319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317479319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17479319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317479319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17479319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317479319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a060f0e8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a060f0e8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a060f0e8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a060f0e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317479319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317479319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a060f0e8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5a060f0e8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imeo.com/963896312/d2c2666151" TargetMode="External"/><Relationship Id="rId4" Type="http://schemas.openxmlformats.org/officeDocument/2006/relationships/hyperlink" Target="https://vimeo.com/963910784/dc97938009" TargetMode="External"/><Relationship Id="rId5" Type="http://schemas.openxmlformats.org/officeDocument/2006/relationships/hyperlink" Target="https://vimeo.com/83637773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161000" y="1587150"/>
            <a:ext cx="5491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Why Speaking Matters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It’s the </a:t>
            </a:r>
            <a:r>
              <a:rPr b="1" lang="en" sz="1900" u="sng"/>
              <a:t>ONLY</a:t>
            </a:r>
            <a:r>
              <a:rPr lang="en" sz="1900"/>
              <a:t> thing “lay judges” can judge off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can lose judges on your </a:t>
            </a:r>
            <a:r>
              <a:rPr b="1" lang="en" sz="1900"/>
              <a:t>FIRST WORD</a:t>
            </a:r>
            <a:r>
              <a:rPr lang="en" sz="1900"/>
              <a:t>- long before your argument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It’s possible to be wrong in all directions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Whether a judge is lay or flow they want to see </a:t>
            </a:r>
            <a:r>
              <a:rPr b="1" lang="en" sz="1900"/>
              <a:t>ENGAGING </a:t>
            </a:r>
            <a:r>
              <a:rPr lang="en" sz="1900"/>
              <a:t>speaking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3435050" y="299875"/>
            <a:ext cx="50559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Harmful Circuit Trend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Too many people sound similar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/>
              <a:t>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This bores judges, but is also an opportunity</a:t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844" y="1602681"/>
            <a:ext cx="4153125" cy="22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Find Your Voice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“CONGRESS VOICE” IS FAKE AND BAD AND YOU SHOULDN’T DO IT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Speaking should build off your normal, conversational voice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Copying or mimicking someone else is a </a:t>
            </a:r>
            <a:r>
              <a:rPr b="1" lang="en" sz="1900"/>
              <a:t>BIG </a:t>
            </a:r>
            <a:r>
              <a:rPr lang="en" sz="1900"/>
              <a:t>no-no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You can be inspired by others, but you </a:t>
            </a:r>
            <a:r>
              <a:rPr b="1" lang="en" sz="1900"/>
              <a:t>CANNOT </a:t>
            </a:r>
            <a:r>
              <a:rPr lang="en" sz="1900"/>
              <a:t>copy them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Find Your Voice LITERALLY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you’re speaking from your throat, I hate to break it to you, you are talking </a:t>
            </a:r>
            <a:r>
              <a:rPr b="1" lang="en" sz="1900"/>
              <a:t>WRONG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" sz="1900"/>
              <a:t>If there is only 1 thing you change after this lecture- Diaphragm Speaking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Better presence, projection, endurance = better </a:t>
            </a:r>
            <a:r>
              <a:rPr b="1" lang="en" sz="1900"/>
              <a:t>results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ctrTitle"/>
          </p:nvPr>
        </p:nvSpPr>
        <p:spPr>
          <a:xfrm>
            <a:off x="3081900" y="46225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Use a Voice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Speed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How fast or slow is a sentence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Volume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How loud or quiet is a sentence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Tone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THE </a:t>
            </a:r>
            <a:r>
              <a:rPr b="1" lang="en" sz="1900"/>
              <a:t>MOST IMPORTANT</a:t>
            </a:r>
            <a:r>
              <a:rPr lang="en" sz="1900"/>
              <a:t> AND </a:t>
            </a:r>
            <a:r>
              <a:rPr b="1" lang="en" sz="1900"/>
              <a:t>HARDEST</a:t>
            </a:r>
            <a:r>
              <a:rPr lang="en" sz="1900"/>
              <a:t> TO DO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How do you </a:t>
            </a:r>
            <a:r>
              <a:rPr b="1" i="1" lang="en" sz="1900"/>
              <a:t>fluctuate</a:t>
            </a:r>
            <a:r>
              <a:rPr lang="en" sz="1900"/>
              <a:t> during a sentence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Without tone, </a:t>
            </a:r>
            <a:r>
              <a:rPr lang="en" sz="1900" u="sng"/>
              <a:t>nothing</a:t>
            </a:r>
            <a:r>
              <a:rPr lang="en" sz="1900"/>
              <a:t> else matters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2700" y="706750"/>
            <a:ext cx="17413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ctrTitle"/>
          </p:nvPr>
        </p:nvSpPr>
        <p:spPr>
          <a:xfrm>
            <a:off x="3248100" y="46210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THE BASE TONE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most natural speaking starts from the base tone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As a numerical value on the chart  this would be 0, right in the middle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Any </a:t>
            </a:r>
            <a:r>
              <a:rPr b="1" i="1" lang="en" sz="1900"/>
              <a:t>fluctuation</a:t>
            </a:r>
            <a:r>
              <a:rPr lang="en" sz="1900"/>
              <a:t> in tone should start from 0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Exaggerated Conversationalism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997800" y="462100"/>
            <a:ext cx="55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831600" y="3900250"/>
            <a:ext cx="883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977675" y="2274325"/>
            <a:ext cx="227400" cy="19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2700" y="707400"/>
            <a:ext cx="17413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>
            <p:ph type="ctrTitle"/>
          </p:nvPr>
        </p:nvSpPr>
        <p:spPr>
          <a:xfrm>
            <a:off x="3003175" y="46210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What is Fluctuation?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Simplest form: how your voice goes up or down as you speak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HOW YOU THINK YOU SOUND IS NOT HOW YOU ARE HEARD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For conversational speaking, there is </a:t>
            </a:r>
            <a:r>
              <a:rPr b="1" lang="en" sz="1900" u="sng"/>
              <a:t>no such thing</a:t>
            </a:r>
            <a:r>
              <a:rPr lang="en" sz="1900"/>
              <a:t> as </a:t>
            </a:r>
            <a:r>
              <a:rPr b="1" lang="en" sz="1900"/>
              <a:t>TOO </a:t>
            </a:r>
            <a:r>
              <a:rPr lang="en" sz="1900"/>
              <a:t>much fluctuation to a listener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BUT </a:t>
            </a:r>
            <a:r>
              <a:rPr lang="en" sz="1900"/>
              <a:t>you should </a:t>
            </a:r>
            <a:r>
              <a:rPr b="1" lang="en" sz="1900"/>
              <a:t>FEEL </a:t>
            </a:r>
            <a:r>
              <a:rPr lang="en" sz="1900"/>
              <a:t>like you are fluctuating too much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7997800" y="462100"/>
            <a:ext cx="55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7831600" y="3893025"/>
            <a:ext cx="883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ctrTitle"/>
          </p:nvPr>
        </p:nvSpPr>
        <p:spPr>
          <a:xfrm>
            <a:off x="3265600" y="48835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Fluctuate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Be </a:t>
            </a:r>
            <a:r>
              <a:rPr b="1" i="1" lang="en" sz="1900"/>
              <a:t>intentional</a:t>
            </a:r>
            <a:r>
              <a:rPr lang="en" sz="1900"/>
              <a:t> about how every single word should sound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“What is the most engaging/interesting way this can be conveyed?”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Exaggerated conversational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IT SHOULD FEEL LIKE TOO MUCH FLUCTUATION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ctrTitle"/>
          </p:nvPr>
        </p:nvSpPr>
        <p:spPr>
          <a:xfrm>
            <a:off x="3265600" y="48835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General Tips to be Conversational: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" sz="1900"/>
              <a:t>If you are struggling to find intention in a line, rewrite it until you can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DON'T</a:t>
            </a:r>
            <a:r>
              <a:rPr lang="en" sz="1900"/>
              <a:t> use words that you wouldn’t use when chatting with friends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Paraphrase/Reword evidence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ctrTitle"/>
          </p:nvPr>
        </p:nvSpPr>
        <p:spPr>
          <a:xfrm>
            <a:off x="3220025" y="435875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Common Fluctuation Mistakes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Rhythmic</a:t>
            </a:r>
            <a:r>
              <a:rPr lang="en" sz="1900"/>
              <a:t>/Cadence-y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Repetitive patterns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Not doing </a:t>
            </a:r>
            <a:r>
              <a:rPr b="1" lang="en" sz="1900"/>
              <a:t>enough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Being too jarring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ANY</a:t>
            </a:r>
            <a:r>
              <a:rPr lang="en" sz="1900"/>
              <a:t> of these things can lose the engagement of the judge- </a:t>
            </a:r>
            <a:r>
              <a:rPr b="1" lang="en" sz="1900"/>
              <a:t>AT THAT POINT YOU HAVE LOST THEIR 1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ctrTitle"/>
          </p:nvPr>
        </p:nvSpPr>
        <p:spPr>
          <a:xfrm>
            <a:off x="3248100" y="49710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What is “Passion”?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Common misconception: Passion=Yelling? </a:t>
            </a:r>
            <a:r>
              <a:rPr lang="en" sz="1900" u="sng"/>
              <a:t>Sometimes</a:t>
            </a:r>
            <a:endParaRPr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Passion=Showing that you care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There is </a:t>
            </a:r>
            <a:r>
              <a:rPr b="1" lang="en" sz="1900"/>
              <a:t>NOT </a:t>
            </a:r>
            <a:r>
              <a:rPr lang="en" sz="1900"/>
              <a:t>just one way to show that you care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Use a </a:t>
            </a:r>
            <a:r>
              <a:rPr b="1" i="1" lang="en" sz="1900"/>
              <a:t>range </a:t>
            </a:r>
            <a:r>
              <a:rPr lang="en" sz="1900"/>
              <a:t>of emotions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025" y="3238911"/>
            <a:ext cx="778707" cy="5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type="ctrTitle"/>
          </p:nvPr>
        </p:nvSpPr>
        <p:spPr>
          <a:xfrm>
            <a:off x="3248100" y="497100"/>
            <a:ext cx="57576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Show You Care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Vary speed, volume, and tone</a:t>
            </a:r>
            <a:endParaRPr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Different</a:t>
            </a:r>
            <a:r>
              <a:rPr lang="en" sz="1900"/>
              <a:t> Emotions: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Anger- Volume &amp; Tone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Sadness/Disappointment- Speed &amp; Tone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Conviction- Volume       Tone        Speed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Humor*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And </a:t>
            </a:r>
            <a:r>
              <a:rPr b="1" lang="en" sz="1900"/>
              <a:t>MUCH</a:t>
            </a:r>
            <a:r>
              <a:rPr lang="en" sz="1900"/>
              <a:t> more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EX: “The people who put you in office are begging for your help”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7006700" y="2274325"/>
            <a:ext cx="297300" cy="1836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4910975" y="2859125"/>
            <a:ext cx="297300" cy="18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6720975" y="3144150"/>
            <a:ext cx="297300" cy="1836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7745000" y="3144150"/>
            <a:ext cx="297300" cy="18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5748975" y="3335725"/>
            <a:ext cx="126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Depends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ctrTitle"/>
          </p:nvPr>
        </p:nvSpPr>
        <p:spPr>
          <a:xfrm>
            <a:off x="3248100" y="497100"/>
            <a:ext cx="5821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How to Use Personality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There is no one-size-fits-all speaking style, even if there was this activity would be so boring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Maximize the things that are natural, avoid what is not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If you’re funny- tell jokes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If you’re loud- use powerful rhetoric 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If you’re explanatory- be more conversational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If you’re sassy, sarcastic, solemn, somber- </a:t>
            </a:r>
            <a:r>
              <a:rPr b="1" lang="en" sz="1900"/>
              <a:t>USE IT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850" y="2009525"/>
            <a:ext cx="5571523" cy="313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>
            <p:ph type="ctrTitle"/>
          </p:nvPr>
        </p:nvSpPr>
        <p:spPr>
          <a:xfrm>
            <a:off x="3248100" y="497100"/>
            <a:ext cx="57576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Building Momentum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Yelling out of nowhere, or suddenly becoming super quiet is jarring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Use the basic elements of story structure to both write and deliver rhetoric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6270525" y="3305013"/>
            <a:ext cx="908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Climax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596325" y="2992050"/>
            <a:ext cx="256800" cy="217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Videos!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500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https://vimeo.com/963896312/d2c2666151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1:41:50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500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https://vimeo.com/963910784/dc97938009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 2:54:20</a:t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5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https://vimeo.com/836377730</a:t>
            </a:r>
            <a:r>
              <a:rPr b="1" lang="en" sz="1500"/>
              <a:t> 3:43:35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774475" y="2763600"/>
            <a:ext cx="4587000" cy="23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ALWAYS RETURN TO YOUR BASE TONE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-Build up from 0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-Restart from 0</a:t>
            </a:r>
            <a:endParaRPr b="1" sz="3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ctrTitle"/>
          </p:nvPr>
        </p:nvSpPr>
        <p:spPr>
          <a:xfrm>
            <a:off x="3248100" y="497100"/>
            <a:ext cx="53133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Speaking is a Spectrum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</a:t>
            </a:r>
            <a:r>
              <a:rPr b="1" lang="en" sz="1900"/>
              <a:t>BASE TONE </a:t>
            </a:r>
            <a:r>
              <a:rPr lang="en" sz="1900"/>
              <a:t>gives you </a:t>
            </a:r>
            <a:r>
              <a:rPr b="1" lang="en" sz="1900"/>
              <a:t>A LOT</a:t>
            </a:r>
            <a:r>
              <a:rPr lang="en" sz="1900"/>
              <a:t> of flexibility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can be louder than the base tone, </a:t>
            </a:r>
            <a:r>
              <a:rPr b="1" i="1" lang="en" sz="1900"/>
              <a:t>without</a:t>
            </a:r>
            <a:r>
              <a:rPr lang="en" sz="1900"/>
              <a:t> getting as loud as possible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can inflect up or down, </a:t>
            </a:r>
            <a:r>
              <a:rPr b="1" i="1" lang="en" sz="1900"/>
              <a:t>without</a:t>
            </a:r>
            <a:r>
              <a:rPr lang="en" sz="1900"/>
              <a:t> going to the extremes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Save the extremes of your voice for the </a:t>
            </a:r>
            <a:r>
              <a:rPr b="1" i="1" lang="en" sz="1900"/>
              <a:t>most important</a:t>
            </a:r>
            <a:r>
              <a:rPr lang="en" sz="1900"/>
              <a:t> moments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Impacts &amp; Conclusions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ctrTitle"/>
          </p:nvPr>
        </p:nvSpPr>
        <p:spPr>
          <a:xfrm>
            <a:off x="3248100" y="497100"/>
            <a:ext cx="53133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Dynamic Speaking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 perfect performance will show everything that your voice can do throughout the round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No sentences will sound exactly the same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Use multiple emotions, speeds, volumes, in every speech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ctrTitle"/>
          </p:nvPr>
        </p:nvSpPr>
        <p:spPr>
          <a:xfrm>
            <a:off x="3248100" y="49710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Speaking Stance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Show the judge that you are </a:t>
            </a:r>
            <a:r>
              <a:rPr b="1" lang="en" sz="1900"/>
              <a:t>confident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Feet shoulder width apart</a:t>
            </a:r>
            <a:endParaRPr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Shoulders back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Chin up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 txBox="1"/>
          <p:nvPr/>
        </p:nvSpPr>
        <p:spPr>
          <a:xfrm>
            <a:off x="3287600" y="3865625"/>
            <a:ext cx="522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5.    “Stand up straight” -My Grandma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ctrTitle"/>
          </p:nvPr>
        </p:nvSpPr>
        <p:spPr>
          <a:xfrm>
            <a:off x="3248100" y="497100"/>
            <a:ext cx="57279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Movement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Bad Movement = Movement without </a:t>
            </a:r>
            <a:r>
              <a:rPr b="1" lang="en" sz="1900" u="sng"/>
              <a:t>intention</a:t>
            </a:r>
            <a:endParaRPr sz="1900" u="sng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Leaning forward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Bouncing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Overused/Repetitive hand motions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These pull attention away from your speech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Three areas of improvement: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Walkup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The Speaker Diamond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What Judges See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ctrTitle"/>
          </p:nvPr>
        </p:nvSpPr>
        <p:spPr>
          <a:xfrm>
            <a:off x="3248100" y="497100"/>
            <a:ext cx="5017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Speaker Diamond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should </a:t>
            </a:r>
            <a:r>
              <a:rPr b="1" lang="en" sz="1900"/>
              <a:t>NEVER </a:t>
            </a:r>
            <a:r>
              <a:rPr lang="en" sz="1900"/>
              <a:t>end your speech behind where you started</a:t>
            </a:r>
            <a:endParaRPr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Intentionally</a:t>
            </a:r>
            <a:r>
              <a:rPr lang="en" sz="1900"/>
              <a:t> vary speed based on your speech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Casual walk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Slow and drawn out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 good diamond can </a:t>
            </a:r>
            <a:r>
              <a:rPr b="1" lang="en" sz="1900"/>
              <a:t>solve</a:t>
            </a:r>
            <a:r>
              <a:rPr lang="en" sz="1900"/>
              <a:t> small organizational problems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ctrTitle"/>
          </p:nvPr>
        </p:nvSpPr>
        <p:spPr>
          <a:xfrm>
            <a:off x="3248100" y="497100"/>
            <a:ext cx="57912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What movement is MOST obvious to judges?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Judges tend to notice two things the most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Your face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Your hands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Debaters tend to </a:t>
            </a:r>
            <a:r>
              <a:rPr b="1" lang="en" sz="1900"/>
              <a:t>NOT </a:t>
            </a:r>
            <a:r>
              <a:rPr lang="en" sz="1900"/>
              <a:t>change their facial expressions </a:t>
            </a:r>
            <a:r>
              <a:rPr b="1" lang="en" sz="1900"/>
              <a:t>OR</a:t>
            </a:r>
            <a:r>
              <a:rPr lang="en" sz="1900"/>
              <a:t> the hand motions they are doing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ctrTitle"/>
          </p:nvPr>
        </p:nvSpPr>
        <p:spPr>
          <a:xfrm>
            <a:off x="3124650" y="497100"/>
            <a:ext cx="59148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If YOU</a:t>
            </a:r>
            <a:r>
              <a:rPr b="1" lang="en" sz="3200"/>
              <a:t> don’t look invested, Why Should Judges Be?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Your face should </a:t>
            </a:r>
            <a:r>
              <a:rPr b="1" i="1" lang="en" sz="1900"/>
              <a:t>intentionally</a:t>
            </a:r>
            <a:r>
              <a:rPr lang="en" sz="1900"/>
              <a:t> match the emotion of what you are saying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you sound angry, but don’t </a:t>
            </a:r>
            <a:r>
              <a:rPr b="1" lang="en" sz="1900"/>
              <a:t>LOOK </a:t>
            </a:r>
            <a:r>
              <a:rPr lang="en" sz="1900"/>
              <a:t>angry, </a:t>
            </a:r>
            <a:r>
              <a:rPr b="1" lang="en" sz="1900"/>
              <a:t>YOU DON’T CARE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This is where comments like “</a:t>
            </a:r>
            <a:r>
              <a:rPr b="1" lang="en" sz="1900"/>
              <a:t>disingenuous</a:t>
            </a:r>
            <a:r>
              <a:rPr lang="en" sz="1900"/>
              <a:t>”</a:t>
            </a:r>
            <a:r>
              <a:rPr b="1" lang="en" sz="1900"/>
              <a:t> </a:t>
            </a:r>
            <a:r>
              <a:rPr lang="en" sz="1900"/>
              <a:t>come from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ctrTitle"/>
          </p:nvPr>
        </p:nvSpPr>
        <p:spPr>
          <a:xfrm>
            <a:off x="3248100" y="497100"/>
            <a:ext cx="55257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BAD Hand Motions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Stop doing hand motions in the intro and conclusion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Stop doing the Italian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Stop doing the Obama fist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Hands are usually too high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Repetitive hand motions eliminate their power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ctrTitle"/>
          </p:nvPr>
        </p:nvSpPr>
        <p:spPr>
          <a:xfrm>
            <a:off x="3248100" y="497100"/>
            <a:ext cx="55257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GOOD</a:t>
            </a:r>
            <a:r>
              <a:rPr b="1" lang="en" sz="3200"/>
              <a:t> Hand Motions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900"/>
              <a:t>Intentional </a:t>
            </a:r>
            <a:r>
              <a:rPr lang="en" sz="1900"/>
              <a:t>hand motions turn</a:t>
            </a:r>
            <a:r>
              <a:rPr lang="en" sz="1900"/>
              <a:t> stand out moments into </a:t>
            </a:r>
            <a:r>
              <a:rPr b="1" lang="en" sz="1900"/>
              <a:t>WOW </a:t>
            </a:r>
            <a:r>
              <a:rPr lang="en" sz="1900"/>
              <a:t>moments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Hand motions should relate to what you are saying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 few good</a:t>
            </a:r>
            <a:r>
              <a:rPr b="1" lang="en" sz="1900"/>
              <a:t> </a:t>
            </a:r>
            <a:r>
              <a:rPr lang="en" sz="1900"/>
              <a:t>hand motions are </a:t>
            </a:r>
            <a:r>
              <a:rPr b="1" i="1" lang="en" sz="1900"/>
              <a:t>infinitely </a:t>
            </a:r>
            <a:r>
              <a:rPr lang="en" sz="1900"/>
              <a:t>better than 3 minutes of the same thing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Don’t be afraid to be </a:t>
            </a:r>
            <a:r>
              <a:rPr b="1" i="1" lang="en" sz="1900"/>
              <a:t>unconventional</a:t>
            </a:r>
            <a:r>
              <a:rPr lang="en" sz="1900"/>
              <a:t>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Sometimes </a:t>
            </a:r>
            <a:r>
              <a:rPr b="1" lang="en" sz="1900"/>
              <a:t>NO</a:t>
            </a:r>
            <a:r>
              <a:rPr lang="en" sz="1900"/>
              <a:t> hand motion is powerful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/>
          <p:nvPr>
            <p:ph type="title"/>
          </p:nvPr>
        </p:nvSpPr>
        <p:spPr>
          <a:xfrm>
            <a:off x="265900" y="1346250"/>
            <a:ext cx="5598000" cy="24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DON'T BE AFRAID TO TAKE RISKS</a:t>
            </a:r>
            <a:endParaRPr b="1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